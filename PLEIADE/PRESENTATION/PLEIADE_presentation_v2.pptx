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Opinion moyenne de la population IA</c:v>
                </c:pt>
              </c:strCache>
            </c:strRef>
          </c:tx>
          <c:spPr>
            <a:ln w="50800">
              <a:solidFill>
                <a:srgbClr val="14140F"/>
              </a:solidFill>
            </a:ln>
          </c:spPr>
          <c:marker>
            <c:symbol val="none"/>
          </c:marker>
          <c:cat>
            <c:strRef>
              <c:f>Sheet1!$A$2:$A$8</c:f>
              <c:strCache>
                <c:ptCount val="7"/>
                <c:pt idx="0">
                  <c:v>8 h</c:v>
                </c:pt>
                <c:pt idx="1">
                  <c:v>10 h</c:v>
                </c:pt>
                <c:pt idx="2">
                  <c:v>12 h</c:v>
                </c:pt>
                <c:pt idx="3">
                  <c:v>14 h</c:v>
                </c:pt>
                <c:pt idx="4">
                  <c:v>16 h</c:v>
                </c:pt>
                <c:pt idx="5">
                  <c:v>18 h</c:v>
                </c:pt>
                <c:pt idx="6">
                  <c:v>20 h</c:v>
                </c:pt>
              </c:strCache>
            </c:strRef>
          </c:cat>
          <c:val>
            <c:numRef>
              <c:f>Sheet1!$B$2:$B$8</c:f>
              <c:numCache>
                <c:formatCode>General</c:formatCode>
                <c:ptCount val="7"/>
                <c:pt idx="0">
                  <c:v>-18</c:v>
                </c:pt>
                <c:pt idx="1">
                  <c:v>-20</c:v>
                </c:pt>
                <c:pt idx="2">
                  <c:v>-12</c:v>
                </c:pt>
                <c:pt idx="3">
                  <c:v>4</c:v>
                </c:pt>
                <c:pt idx="4">
                  <c:v>14</c:v>
                </c:pt>
                <c:pt idx="5">
                  <c:v>18</c:v>
                </c:pt>
                <c:pt idx="6">
                  <c:v>16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B5F69"/>
            </a:solidFill>
          </a:ln>
        </c:spPr>
        <c:txPr>
          <a:bodyPr/>
          <a:lstStyle/>
          <a:p>
            <a:pPr>
              <a:defRPr sz="1600"/>
            </a:pPr>
          </a:p>
        </c:txPr>
        <c:crossAx val="2140495176"/>
        <c:crosses val="autoZero"/>
        <c:auto val="1"/>
        <c:lblAlgn val="ctr"/>
        <c:lblOffset val="100"/>
        <c:noMultiLvlLbl val="0"/>
      </c:catAx>
      <c:valAx>
        <c:axId val="2140495176"/>
        <c:scaling>
          <c:max val="100.0"/>
          <c:min val="-100.0"/>
        </c:scaling>
        <c:delete val="0"/>
        <c:axPos val="l"/>
        <c:majorGridlines>
          <c:spPr>
            <a:ln>
              <a:solidFill>
                <a:srgbClr val="C9C3B3"/>
              </a:solidFill>
            </a:ln>
          </c:spPr>
        </c:majorGridlines>
        <c:majorTickMark val="out"/>
        <c:minorTickMark val="none"/>
        <c:tickLblPos val="nextTo"/>
        <c:spPr>
          <a:ln>
            <a:noFill/>
          </a:ln>
        </c:spPr>
        <c:txPr>
          <a:bodyPr/>
          <a:lstStyle/>
          <a:p>
            <a:pPr>
              <a:defRPr sz="1600"/>
            </a:pPr>
          </a:p>
        </c:txPr>
        <c:crossAx val="2118791784"/>
        <c:crosses val="autoZero"/>
        <c:majorUnit val="50.0"/>
      </c:valAx>
    </c:plotArea>
    <c:plotVisOnly val="1"/>
    <c:dispBlanksAs val="gap"/>
    <c:showDLblsOverMax val="0"/>
  </c:chart>
  <c:txPr>
    <a:bodyPr/>
    <a:lstStyle/>
    <a:p>
      <a:pPr>
        <a:defRPr sz="1600">
          <a:solidFill>
            <a:srgbClr val="3B3E4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PLÉIADE est la plateforme d'entraînement du CECPC. Elle reproduit, pour chaque exercice, un espace informationnel complet et fermé : réseau social, presse, messagerie, fiches de personnages, planche des injects et outils de mesure. Cette présentation retrace six mois d'évolution, d'ORION 26 à DELATTRE 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métier se joue sur des réseaux sociaux, des sites d'information et des messageries. PLÉIADE reproduit cet écosystème dans un espace fermé, accessible par VPN nominatif. Quatre arguments : réalisme (outils et personnages crédibles), rapidité (une zone et ses applications se déploient en quelques minutes), isolation (un exercice fabrique de fausses rumeurs et de faux communiqués : ils doivent rester dans la salle), reproductibilité (personnages, médias et scénarios se réutilisent d'un exercice à l'autre).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Avril, ORION 26 : le Mastodon prévu ne convient pas à l'exercice ; création de MASTORION (réseau social d'exercice) et d'un premier COCKPIT de suivi. Mai, AURIGE 2BB : JEMM n'est pas adapté à l'influence et les joueurs n'ont pas Internet ; création de MELMIL, de l'EHO et d'une presse en pages HTML, diffusés par mail en ZIP. Juin-juillet, MINOTAURE 26 : une copie par poste, et le RETEX note que l'impact de l'influence n'est pas mesurable. Août : fusion de MASTAURIGE et MASTORION, naissance de PLÉIADE (nom officialisé le 11 septembre). Septembre : serveur au CECPC, accès par VPN. Octobre, DELATTRE 26 : avatars animés par IA, COCKPIT amélioré pour mesurer, MELMIL intégré au jeu, presse supplémentaire, chat sur le réseau social (besoin exprimé par la LLE).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(AURIGE 2BB et MINOTAURE 26) : outils séparés, pages HTML diffusées par mail en ZIP, une copie par poste ; fiches de personnages faites deux fois ; le réseau ne réagit que si un animateur écrit ; JEMM synchronisé à la main vers MELMIL ; l'impact de l'influence n'est pas mesurable. Avec DELATTRE 26 : une zone et ses applications en quelques minutes sur un serveur unique, mises à jour pendant l'exercice ; une fiche par avatar dans l'EHO, la même partout, environ 4 000 avatars ; 105 avatars animés par IA ; MELMIL alimenté par les exports JEMM ; le COCKPIT suit l'activité, les hashtags et l'opinion de la population.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zone est une bulle étanche par exercice : ses comptes, ses données, ses adresses. On y déploie les applications dont l'exercice a besoin, choisies dans un catalogue de 11 applications (plateforme SaaS modulaire). Une seule connexion et une barre « Apps de la zone » pour passer de l'une à l'autre (digital workspace). Chaque personnage existe une seule fois dans l'EHO et garde la même identité partout : il publie sur le réseau social, signe dans la presse, écrit dans la messagerie. Hors de ce schéma : LEAC, le logiciel de contrôle des postes de commandement, est aussi une application PLÉIADE.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L'incident est planifié dans JEMM puis exporté. 2. Il arrive sur la planche MELMIL, qui importe les exports JEMM (events, storylines, incidents) : on le prépare et on le valide. 3. Dans la console d'animation, un scénario programme les publications, rattaché à l'incident. 4. Les publications partent seules, à l'heure. 5. Elles s'affichent sur le réseau social, la presse, la messagerie. 6. Le COCKPIT montre les réactions ; MELMIL suit le déroulé et les demandes de produits.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le réseau ne réagissait que si un animateur écrivait. Sur DELATTRE 26, 105 avatars sont animés par IA : 100 citoyens de l'Arnland orientés 15 % pro-Mercure, 15 % pro-Arnland, 70 % neutres, plus 3 avatars de test et 2 relais mercuriens. Ils ne sont joués par personne (groupe à part). Chacun a une fiche complète : âge, métier, foyer, horaires, caractère, façon d'écrire. Ils vivent : ils travaillent, dorment, parlent de leur vie autant que de la crise. Comme dans la vraie vie, la plupart lisent beaucoup et écrivent peu.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d'IA ne décide pas seul. Un programme tient la psychologie de chaque avatar, avec des règles chiffrées et sourcées : l'humeur (qui revient vers un état de repos propre au caractère), la mémoire (souvenirs classés par importance, consolidés la nuit), les relations avec chaque compte (familiarité, confiance, rancune), les opinions sur des axes (la Force alliée, Mercure, les institutions) et leurs bascules avec une phase de doute, et le choix de qui lit et qui réagit. L'IA sert à lire le fil et à formuler la réaction. Garde-fous : interrupteur général coupé par défaut, interdits absolus (aucune insulte, aucune information militaire, ne jamais se dire IA, ne rien inventer), plafonds de messages, relecture automatique avant publication, alerte de dérive. L'animation peut geler, imposer, arrêter. En essai sur une partie de la population, avec un groupe témoin : un rédacteur dédié et un dictionnaire de 36 nuances d'émotion.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 (courbe fictive). Le RETEX de MINOTAURE 26 relevait que l'impact de l'influence n'était pas mesurable (« so what ? »). Le Reporting du COCKPIT suit désormais l'activité heure par heure par série de comptes, les hashtags repris (signe qu'une campagne prend), l'opinion de la population simulée sur chaque axe, qui la fait bouger (joueurs et animation, avatars IA, faits) et les avatars ébranlés. On peut ainsi montrer à un joueur l'effet de son action sur une population, et pas seulement compter ses publications. Les relevés réels de DELATTRE 26 sont en cours d'analyse ; ils seront consolidés au RETEX.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n'entre que par VPN, avec un profil nominatif révocable individuellement : aucune adresse publique, rien d'indexable. Être sur le VPN ne donne aucun droit : chaque application vérifie elle-même qui vous êtes et ce que vous pouvez faire (principe zero trust de l'ANSSI) ; comptes de zone anonymes ; l'origine réelle d'une publication n'est visible que de l'animation ; doctrine de sécurité fondée sur 11 guides de l'ANSSI. Le modèle d'IA (Gemma 4, Google, licence libre Apache 2.0) tourne sur des ordinateurs de l'équipe, jamais dans un service en ligne. Le serveur n'ayant pas de carte graphique, il confie le calcul à des nœuds joints par le VPN, protégés par un jeton et un pare-feu. Depuis le 13 octobre, deux machines forment un parc : chaque avatar est rattaché à une machine, repris automatiquement par une autre si elle s'arrête ; les cycles tournent environ deux fois plus vite.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PLÉIADE permet d'entraîner un état-major à la lutte informationnelle dans un espace réaliste et fermé ; de monter un exercice vite et de réutiliser personnages, médias et scénarios ; de faire vivre l'espace avec une population simulée, sans dépendre du nombre d'animateurs ; de mesurer l'effet des actions des joueurs sur l'opinion ; et d'évoluer en continu, les améliorations arrivant pendant l'exercice. En essai : le rédacteur dédié et le dictionnaire des émotions, sur une partie de la population avec un groupe témoin. À l'étude : la lecture des images publiées par les joueurs. Ensuite : une population plus nombreuse et de nouvelles machines de calcul.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719"/>
        </a:solidFill>
        <a:effectLst/>
      </p:bgPr>
    </p:bg>
    <p:spTree>
      <p:nvGrpSpPr>
        <p:cNvPr id="1" name=""/>
        <p:cNvGrpSpPr/>
        <p:nvPr/>
      </p:nvGrpSpPr>
      <p:grpSpPr/>
      <p:sp>
        <p:nvSpPr>
          <p:cNvPr id="2" name="Oval 1"/>
          <p:cNvSpPr/>
          <p:nvPr/>
        </p:nvSpPr>
        <p:spPr>
          <a:xfrm>
            <a:off x="609600" y="1600200"/>
            <a:ext cx="114300" cy="1143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1400" y="1219200"/>
            <a:ext cx="88900" cy="889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70000" y="1651000"/>
            <a:ext cx="152400" cy="1524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27200" y="1473200"/>
            <a:ext cx="101600" cy="1016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9600" y="1955800"/>
            <a:ext cx="114300" cy="1143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97000" y="2108200"/>
            <a:ext cx="88900" cy="889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032000"/>
            <a:ext cx="76200" cy="7620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2489200"/>
            <a:ext cx="10972800" cy="1143000"/>
          </a:xfrm>
          <a:prstGeom prst="rect">
            <a:avLst/>
          </a:prstGeom>
          <a:noFill/>
        </p:spPr>
        <p:txBody>
          <a:bodyPr wrap="square" lIns="0" rIns="0" tIns="0" bIns="0" anchor="t">
            <a:spAutoFit/>
          </a:bodyPr>
          <a:lstStyle/>
          <a:p>
            <a:pPr algn="l">
              <a:lnSpc>
                <a:spcPct val="110000"/>
              </a:lnSpc>
              <a:spcAft>
                <a:spcPts val="0"/>
              </a:spcAft>
            </a:pPr>
            <a:r>
              <a:rPr sz="7200" b="1">
                <a:solidFill>
                  <a:srgbClr val="EDEEF2"/>
                </a:solidFill>
                <a:latin typeface="Arial"/>
              </a:rPr>
              <a:t>PLÉIADE</a:t>
            </a:r>
          </a:p>
        </p:txBody>
      </p:sp>
      <p:sp>
        <p:nvSpPr>
          <p:cNvPr id="10" name="TextBox 9"/>
          <p:cNvSpPr txBox="1"/>
          <p:nvPr/>
        </p:nvSpPr>
        <p:spPr>
          <a:xfrm>
            <a:off x="609600" y="3683000"/>
            <a:ext cx="10972800" cy="508000"/>
          </a:xfrm>
          <a:prstGeom prst="rect">
            <a:avLst/>
          </a:prstGeom>
          <a:noFill/>
        </p:spPr>
        <p:txBody>
          <a:bodyPr wrap="square" lIns="0" rIns="0" tIns="0" bIns="0" anchor="t">
            <a:spAutoFit/>
          </a:bodyPr>
          <a:lstStyle/>
          <a:p>
            <a:pPr algn="l">
              <a:lnSpc>
                <a:spcPct val="110000"/>
              </a:lnSpc>
              <a:spcAft>
                <a:spcPts val="0"/>
              </a:spcAft>
            </a:pPr>
            <a:r>
              <a:rPr sz="2800" b="0">
                <a:solidFill>
                  <a:srgbClr val="C3C8D8"/>
                </a:solidFill>
                <a:latin typeface="Arial"/>
              </a:rPr>
              <a:t>L'espace informationnel d'entraînement du CECPC</a:t>
            </a:r>
          </a:p>
        </p:txBody>
      </p:sp>
      <p:sp>
        <p:nvSpPr>
          <p:cNvPr id="11" name="TextBox 10"/>
          <p:cNvSpPr txBox="1"/>
          <p:nvPr/>
        </p:nvSpPr>
        <p:spPr>
          <a:xfrm>
            <a:off x="609600" y="4318000"/>
            <a:ext cx="10972800" cy="381000"/>
          </a:xfrm>
          <a:prstGeom prst="rect">
            <a:avLst/>
          </a:prstGeom>
          <a:noFill/>
        </p:spPr>
        <p:txBody>
          <a:bodyPr wrap="square" lIns="0" rIns="0" tIns="0" bIns="0" anchor="t">
            <a:spAutoFit/>
          </a:bodyPr>
          <a:lstStyle/>
          <a:p>
            <a:pPr algn="l">
              <a:lnSpc>
                <a:spcPct val="110000"/>
              </a:lnSpc>
              <a:spcAft>
                <a:spcPts val="0"/>
              </a:spcAft>
            </a:pPr>
            <a:r>
              <a:rPr sz="2000" b="0">
                <a:solidFill>
                  <a:srgbClr val="9AA0B4"/>
                </a:solidFill>
                <a:latin typeface="Arial"/>
              </a:rPr>
              <a:t>D'ORION 26 à DELATTRE 26 · six mois d'avancées</a:t>
            </a:r>
          </a:p>
        </p:txBody>
      </p:sp>
      <p:sp>
        <p:nvSpPr>
          <p:cNvPr id="12" name="TextBox 11"/>
          <p:cNvSpPr txBox="1"/>
          <p:nvPr/>
        </p:nvSpPr>
        <p:spPr>
          <a:xfrm>
            <a:off x="609600" y="6350000"/>
            <a:ext cx="10972800" cy="254000"/>
          </a:xfrm>
          <a:prstGeom prst="rect">
            <a:avLst/>
          </a:prstGeom>
          <a:noFill/>
        </p:spPr>
        <p:txBody>
          <a:bodyPr wrap="square" lIns="0" rIns="0" tIns="0" bIns="0" anchor="t">
            <a:spAutoFit/>
          </a:bodyPr>
          <a:lstStyle/>
          <a:p>
            <a:pPr algn="l">
              <a:lnSpc>
                <a:spcPct val="110000"/>
              </a:lnSpc>
              <a:spcAft>
                <a:spcPts val="0"/>
              </a:spcAft>
            </a:pPr>
            <a:r>
              <a:rPr sz="1200" b="0">
                <a:solidFill>
                  <a:srgbClr val="9AA0B4"/>
                </a:solidFill>
                <a:latin typeface="Arial"/>
              </a:rPr>
              <a:t>Exercice · non classifié · pays, personnages, médias et villes cités : fictifs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La lutte informationnelle se joue en ligne : PLÉIADE la reproduit en vase clos</a:t>
            </a:r>
          </a:p>
        </p:txBody>
      </p:sp>
      <p:sp>
        <p:nvSpPr>
          <p:cNvPr id="3" name="Périmètre fermé"/>
          <p:cNvSpPr/>
          <p:nvPr/>
        </p:nvSpPr>
        <p:spPr>
          <a:xfrm>
            <a:off x="609600" y="1930400"/>
            <a:ext cx="5334000" cy="3810000"/>
          </a:xfrm>
          <a:prstGeom prst="rect">
            <a:avLst/>
          </a:prstGeom>
          <a:noFill/>
          <a:ln w="25400">
            <a:solidFill>
              <a:srgbClr val="1C1E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082800"/>
            <a:ext cx="3810000" cy="2540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Réseau fermé</a:t>
            </a:r>
          </a:p>
        </p:txBody>
      </p:sp>
      <p:sp>
        <p:nvSpPr>
          <p:cNvPr id="5" name="Rectangle 4"/>
          <p:cNvSpPr/>
          <p:nvPr/>
        </p:nvSpPr>
        <p:spPr>
          <a:xfrm>
            <a:off x="914400" y="2540000"/>
            <a:ext cx="4724400" cy="762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540000"/>
            <a:ext cx="4318000" cy="762000"/>
          </a:xfrm>
          <a:prstGeom prst="rect">
            <a:avLst/>
          </a:prstGeom>
          <a:noFill/>
        </p:spPr>
        <p:txBody>
          <a:bodyPr wrap="square" lIns="0" rIns="0" tIns="0" bIns="0" anchor="ctr">
            <a:spAutoFit/>
          </a:bodyPr>
          <a:lstStyle/>
          <a:p>
            <a:pPr algn="l">
              <a:lnSpc>
                <a:spcPct val="110000"/>
              </a:lnSpc>
              <a:spcAft>
                <a:spcPts val="0"/>
              </a:spcAft>
            </a:pPr>
            <a:r>
              <a:rPr sz="2400" b="1">
                <a:solidFill>
                  <a:srgbClr val="EDE3C8"/>
                </a:solidFill>
                <a:latin typeface="Arial"/>
              </a:rPr>
              <a:t>Réseau social</a:t>
            </a:r>
          </a:p>
        </p:txBody>
      </p:sp>
      <p:sp>
        <p:nvSpPr>
          <p:cNvPr id="7" name="Rectangle 6"/>
          <p:cNvSpPr/>
          <p:nvPr/>
        </p:nvSpPr>
        <p:spPr>
          <a:xfrm>
            <a:off x="914400" y="3530600"/>
            <a:ext cx="4724400" cy="762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8400" y="3530600"/>
            <a:ext cx="4318000" cy="762000"/>
          </a:xfrm>
          <a:prstGeom prst="rect">
            <a:avLst/>
          </a:prstGeom>
          <a:noFill/>
        </p:spPr>
        <p:txBody>
          <a:bodyPr wrap="square" lIns="0" rIns="0" tIns="0" bIns="0" anchor="ctr">
            <a:spAutoFit/>
          </a:bodyPr>
          <a:lstStyle/>
          <a:p>
            <a:pPr algn="l">
              <a:lnSpc>
                <a:spcPct val="110000"/>
              </a:lnSpc>
              <a:spcAft>
                <a:spcPts val="0"/>
              </a:spcAft>
            </a:pPr>
            <a:r>
              <a:rPr sz="2400" b="1">
                <a:solidFill>
                  <a:srgbClr val="EDE3C8"/>
                </a:solidFill>
                <a:latin typeface="Arial"/>
              </a:rPr>
              <a:t>Presse</a:t>
            </a:r>
          </a:p>
        </p:txBody>
      </p:sp>
      <p:sp>
        <p:nvSpPr>
          <p:cNvPr id="9" name="Rectangle 8"/>
          <p:cNvSpPr/>
          <p:nvPr/>
        </p:nvSpPr>
        <p:spPr>
          <a:xfrm>
            <a:off x="914400" y="4521200"/>
            <a:ext cx="4724400" cy="762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8400" y="4521200"/>
            <a:ext cx="4318000" cy="762000"/>
          </a:xfrm>
          <a:prstGeom prst="rect">
            <a:avLst/>
          </a:prstGeom>
          <a:noFill/>
        </p:spPr>
        <p:txBody>
          <a:bodyPr wrap="square" lIns="0" rIns="0" tIns="0" bIns="0" anchor="ctr">
            <a:spAutoFit/>
          </a:bodyPr>
          <a:lstStyle/>
          <a:p>
            <a:pPr algn="l">
              <a:lnSpc>
                <a:spcPct val="110000"/>
              </a:lnSpc>
              <a:spcAft>
                <a:spcPts val="0"/>
              </a:spcAft>
            </a:pPr>
            <a:r>
              <a:rPr sz="2400" b="1">
                <a:solidFill>
                  <a:srgbClr val="EDE3C8"/>
                </a:solidFill>
                <a:latin typeface="Arial"/>
              </a:rPr>
              <a:t>Messagerie</a:t>
            </a:r>
          </a:p>
        </p:txBody>
      </p:sp>
      <p:sp>
        <p:nvSpPr>
          <p:cNvPr id="11" name="Rectangle 10"/>
          <p:cNvSpPr/>
          <p:nvPr/>
        </p:nvSpPr>
        <p:spPr>
          <a:xfrm>
            <a:off x="381000" y="3657600"/>
            <a:ext cx="457200" cy="457200"/>
          </a:xfrm>
          <a:prstGeom prst="rect">
            <a:avLst/>
          </a:prstGeom>
          <a:solidFill>
            <a:srgbClr val="F3F0E7"/>
          </a:solidFill>
          <a:ln w="25400">
            <a:solidFill>
              <a:srgbClr val="1C1E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1000" y="3657600"/>
            <a:ext cx="457200" cy="457200"/>
          </a:xfrm>
          <a:prstGeom prst="rect">
            <a:avLst/>
          </a:prstGeom>
          <a:noFill/>
        </p:spPr>
        <p:txBody>
          <a:bodyPr wrap="square" lIns="0" rIns="0" tIns="0" bIns="0" anchor="ctr">
            <a:spAutoFit/>
          </a:bodyPr>
          <a:lstStyle/>
          <a:p>
            <a:pPr algn="ctr">
              <a:lnSpc>
                <a:spcPct val="110000"/>
              </a:lnSpc>
              <a:spcAft>
                <a:spcPts val="0"/>
              </a:spcAft>
            </a:pPr>
            <a:r>
              <a:rPr sz="1200" b="1">
                <a:solidFill>
                  <a:srgbClr val="1C1E21"/>
                </a:solidFill>
                <a:latin typeface="Arial"/>
              </a:rPr>
              <a:t>VPN</a:t>
            </a:r>
          </a:p>
        </p:txBody>
      </p:sp>
      <p:sp>
        <p:nvSpPr>
          <p:cNvPr id="13" name="Rectangle 12"/>
          <p:cNvSpPr/>
          <p:nvPr/>
        </p:nvSpPr>
        <p:spPr>
          <a:xfrm>
            <a:off x="6400800" y="1981200"/>
            <a:ext cx="152400" cy="152400"/>
          </a:xfrm>
          <a:prstGeom prst="rect">
            <a:avLst/>
          </a:prstGeom>
          <a:solidFill>
            <a:srgbClr val="1C1E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1000" y="1879600"/>
            <a:ext cx="4851400" cy="889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Réalisme</a:t>
            </a:r>
          </a:p>
          <a:p>
            <a:pPr algn="l">
              <a:lnSpc>
                <a:spcPct val="110000"/>
              </a:lnSpc>
              <a:spcAft>
                <a:spcPts val="0"/>
              </a:spcAft>
            </a:pPr>
            <a:r>
              <a:rPr sz="1800" b="0">
                <a:solidFill>
                  <a:srgbClr val="3B3E46"/>
                </a:solidFill>
                <a:latin typeface="Arial"/>
              </a:rPr>
              <a:t>des outils et des personnages crédibles</a:t>
            </a:r>
          </a:p>
        </p:txBody>
      </p:sp>
      <p:sp>
        <p:nvSpPr>
          <p:cNvPr id="15" name="Rectangle 14"/>
          <p:cNvSpPr/>
          <p:nvPr/>
        </p:nvSpPr>
        <p:spPr>
          <a:xfrm>
            <a:off x="6400800" y="2971800"/>
            <a:ext cx="152400" cy="152400"/>
          </a:xfrm>
          <a:prstGeom prst="rect">
            <a:avLst/>
          </a:prstGeom>
          <a:solidFill>
            <a:srgbClr val="1C1E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1000" y="2870200"/>
            <a:ext cx="4851400" cy="889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Rapidité</a:t>
            </a:r>
          </a:p>
          <a:p>
            <a:pPr algn="l">
              <a:lnSpc>
                <a:spcPct val="110000"/>
              </a:lnSpc>
              <a:spcAft>
                <a:spcPts val="0"/>
              </a:spcAft>
            </a:pPr>
            <a:r>
              <a:rPr sz="1800" b="0">
                <a:solidFill>
                  <a:srgbClr val="3B3E46"/>
                </a:solidFill>
                <a:latin typeface="Arial"/>
              </a:rPr>
              <a:t>une zone déployée en minutes</a:t>
            </a:r>
          </a:p>
        </p:txBody>
      </p:sp>
      <p:sp>
        <p:nvSpPr>
          <p:cNvPr id="17" name="Rectangle 16"/>
          <p:cNvSpPr/>
          <p:nvPr/>
        </p:nvSpPr>
        <p:spPr>
          <a:xfrm>
            <a:off x="6400800" y="3962400"/>
            <a:ext cx="152400" cy="152400"/>
          </a:xfrm>
          <a:prstGeom prst="rect">
            <a:avLst/>
          </a:prstGeom>
          <a:solidFill>
            <a:srgbClr val="1C1E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1000" y="3860800"/>
            <a:ext cx="4851400" cy="889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Isolation</a:t>
            </a:r>
          </a:p>
          <a:p>
            <a:pPr algn="l">
              <a:lnSpc>
                <a:spcPct val="110000"/>
              </a:lnSpc>
              <a:spcAft>
                <a:spcPts val="0"/>
              </a:spcAft>
            </a:pPr>
            <a:r>
              <a:rPr sz="1800" b="0">
                <a:solidFill>
                  <a:srgbClr val="3B3E46"/>
                </a:solidFill>
                <a:latin typeface="Arial"/>
              </a:rPr>
              <a:t>les fausses rumeurs restent dans la salle</a:t>
            </a:r>
          </a:p>
        </p:txBody>
      </p:sp>
      <p:sp>
        <p:nvSpPr>
          <p:cNvPr id="19" name="Rectangle 18"/>
          <p:cNvSpPr/>
          <p:nvPr/>
        </p:nvSpPr>
        <p:spPr>
          <a:xfrm>
            <a:off x="6400800" y="4953000"/>
            <a:ext cx="152400" cy="152400"/>
          </a:xfrm>
          <a:prstGeom prst="rect">
            <a:avLst/>
          </a:prstGeom>
          <a:solidFill>
            <a:srgbClr val="1C1E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31000" y="4851400"/>
            <a:ext cx="4851400" cy="889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Reproductibilité</a:t>
            </a:r>
          </a:p>
          <a:p>
            <a:pPr algn="l">
              <a:lnSpc>
                <a:spcPct val="110000"/>
              </a:lnSpc>
              <a:spcAft>
                <a:spcPts val="0"/>
              </a:spcAft>
            </a:pPr>
            <a:r>
              <a:rPr sz="1800" b="0">
                <a:solidFill>
                  <a:srgbClr val="3B3E46"/>
                </a:solidFill>
                <a:latin typeface="Arial"/>
              </a:rPr>
              <a:t>tout se réutilise d'un exercice à l'autre</a:t>
            </a:r>
          </a:p>
        </p:txBody>
      </p:sp>
      <p:sp>
        <p:nvSpPr>
          <p:cNvPr id="21" name="TextBox 20"/>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22" name="TextBox 21"/>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Six mois, quatre exercices : chaque manque a produit un outil</a:t>
            </a:r>
          </a:p>
        </p:txBody>
      </p:sp>
      <p:cxnSp>
        <p:nvCxnSpPr>
          <p:cNvPr id="3" name="Connector 2"/>
          <p:cNvCxnSpPr/>
          <p:nvPr/>
        </p:nvCxnSpPr>
        <p:spPr>
          <a:xfrm>
            <a:off x="914400" y="3810000"/>
            <a:ext cx="7772400" cy="0"/>
          </a:xfrm>
          <a:prstGeom prst="line">
            <a:avLst/>
          </a:prstGeom>
          <a:ln w="38100">
            <a:solidFill>
              <a:srgbClr val="3B3E46"/>
            </a:solidFill>
            <a:prstDash val="dash"/>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686800" y="3810000"/>
            <a:ext cx="2590800" cy="0"/>
          </a:xfrm>
          <a:prstGeom prst="line">
            <a:avLst/>
          </a:prstGeom>
          <a:ln w="50800">
            <a:solidFill>
              <a:srgbClr val="1C1E2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34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Avr.</a:t>
            </a:r>
          </a:p>
        </p:txBody>
      </p:sp>
      <p:sp>
        <p:nvSpPr>
          <p:cNvPr id="6" name="TextBox 5"/>
          <p:cNvSpPr txBox="1"/>
          <p:nvPr/>
        </p:nvSpPr>
        <p:spPr>
          <a:xfrm>
            <a:off x="22606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Mai</a:t>
            </a:r>
          </a:p>
        </p:txBody>
      </p:sp>
      <p:sp>
        <p:nvSpPr>
          <p:cNvPr id="7" name="TextBox 6"/>
          <p:cNvSpPr txBox="1"/>
          <p:nvPr/>
        </p:nvSpPr>
        <p:spPr>
          <a:xfrm>
            <a:off x="39878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Juin</a:t>
            </a:r>
          </a:p>
        </p:txBody>
      </p:sp>
      <p:sp>
        <p:nvSpPr>
          <p:cNvPr id="8" name="TextBox 7"/>
          <p:cNvSpPr txBox="1"/>
          <p:nvPr/>
        </p:nvSpPr>
        <p:spPr>
          <a:xfrm>
            <a:off x="57150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Juil.</a:t>
            </a:r>
          </a:p>
        </p:txBody>
      </p:sp>
      <p:sp>
        <p:nvSpPr>
          <p:cNvPr id="9" name="TextBox 8"/>
          <p:cNvSpPr txBox="1"/>
          <p:nvPr/>
        </p:nvSpPr>
        <p:spPr>
          <a:xfrm>
            <a:off x="74422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Août</a:t>
            </a:r>
          </a:p>
        </p:txBody>
      </p:sp>
      <p:sp>
        <p:nvSpPr>
          <p:cNvPr id="10" name="TextBox 9"/>
          <p:cNvSpPr txBox="1"/>
          <p:nvPr/>
        </p:nvSpPr>
        <p:spPr>
          <a:xfrm>
            <a:off x="91694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Sept.</a:t>
            </a:r>
          </a:p>
        </p:txBody>
      </p:sp>
      <p:sp>
        <p:nvSpPr>
          <p:cNvPr id="11" name="TextBox 10"/>
          <p:cNvSpPr txBox="1"/>
          <p:nvPr/>
        </p:nvSpPr>
        <p:spPr>
          <a:xfrm>
            <a:off x="10896600" y="3962400"/>
            <a:ext cx="762000" cy="254000"/>
          </a:xfrm>
          <a:prstGeom prst="rect">
            <a:avLst/>
          </a:prstGeom>
          <a:noFill/>
        </p:spPr>
        <p:txBody>
          <a:bodyPr wrap="square" lIns="0" rIns="0" tIns="0" bIns="0" anchor="t">
            <a:spAutoFit/>
          </a:bodyPr>
          <a:lstStyle/>
          <a:p>
            <a:pPr algn="ctr">
              <a:lnSpc>
                <a:spcPct val="110000"/>
              </a:lnSpc>
              <a:spcAft>
                <a:spcPts val="0"/>
              </a:spcAft>
            </a:pPr>
            <a:r>
              <a:rPr sz="1600" b="0">
                <a:solidFill>
                  <a:srgbClr val="5B5F69"/>
                </a:solidFill>
                <a:latin typeface="Arial"/>
              </a:rPr>
              <a:t>Oct.</a:t>
            </a:r>
          </a:p>
        </p:txBody>
      </p:sp>
      <p:sp>
        <p:nvSpPr>
          <p:cNvPr id="12" name="TextBox 11"/>
          <p:cNvSpPr txBox="1"/>
          <p:nvPr/>
        </p:nvSpPr>
        <p:spPr>
          <a:xfrm>
            <a:off x="914400" y="4318000"/>
            <a:ext cx="5080000" cy="254000"/>
          </a:xfrm>
          <a:prstGeom prst="rect">
            <a:avLst/>
          </a:prstGeom>
          <a:noFill/>
        </p:spPr>
        <p:txBody>
          <a:bodyPr wrap="square" lIns="0" rIns="0" tIns="0" bIns="0" anchor="t">
            <a:spAutoFit/>
          </a:bodyPr>
          <a:lstStyle/>
          <a:p>
            <a:pPr algn="l">
              <a:lnSpc>
                <a:spcPct val="110000"/>
              </a:lnSpc>
              <a:spcAft>
                <a:spcPts val="0"/>
              </a:spcAft>
            </a:pPr>
            <a:r>
              <a:rPr sz="1600" b="0">
                <a:solidFill>
                  <a:srgbClr val="3B3E46"/>
                </a:solidFill>
                <a:latin typeface="Arial"/>
              </a:rPr>
              <a:t>Fichiers HTML envoyés par mail en ZIP</a:t>
            </a:r>
          </a:p>
        </p:txBody>
      </p:sp>
      <p:sp>
        <p:nvSpPr>
          <p:cNvPr id="13" name="TextBox 12"/>
          <p:cNvSpPr txBox="1"/>
          <p:nvPr/>
        </p:nvSpPr>
        <p:spPr>
          <a:xfrm>
            <a:off x="8686800" y="4318000"/>
            <a:ext cx="4191000" cy="254000"/>
          </a:xfrm>
          <a:prstGeom prst="rect">
            <a:avLst/>
          </a:prstGeom>
          <a:noFill/>
        </p:spPr>
        <p:txBody>
          <a:bodyPr wrap="square" lIns="0" rIns="0" tIns="0" bIns="0" anchor="t">
            <a:spAutoFit/>
          </a:bodyPr>
          <a:lstStyle/>
          <a:p>
            <a:pPr algn="l">
              <a:lnSpc>
                <a:spcPct val="110000"/>
              </a:lnSpc>
              <a:spcAft>
                <a:spcPts val="0"/>
              </a:spcAft>
            </a:pPr>
            <a:r>
              <a:rPr sz="1600" b="1">
                <a:solidFill>
                  <a:srgbClr val="1C1E21"/>
                </a:solidFill>
                <a:latin typeface="Arial"/>
              </a:rPr>
              <a:t>Serveur unique, accès VPN</a:t>
            </a:r>
          </a:p>
        </p:txBody>
      </p:sp>
      <p:sp>
        <p:nvSpPr>
          <p:cNvPr id="14" name="Oval 13"/>
          <p:cNvSpPr/>
          <p:nvPr/>
        </p:nvSpPr>
        <p:spPr>
          <a:xfrm>
            <a:off x="812800" y="3708400"/>
            <a:ext cx="203200" cy="203200"/>
          </a:xfrm>
          <a:prstGeom prst="ellipse">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14400" y="2794000"/>
            <a:ext cx="0" cy="88900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28600" y="1905000"/>
            <a:ext cx="2286000" cy="889000"/>
          </a:xfrm>
          <a:prstGeom prst="rect">
            <a:avLst/>
          </a:prstGeom>
          <a:noFill/>
        </p:spPr>
        <p:txBody>
          <a:bodyPr wrap="square" lIns="0" rIns="0" tIns="0" bIns="0" anchor="t">
            <a:spAutoFit/>
          </a:bodyPr>
          <a:lstStyle/>
          <a:p>
            <a:pPr algn="ctr">
              <a:lnSpc>
                <a:spcPct val="110000"/>
              </a:lnSpc>
              <a:spcAft>
                <a:spcPts val="0"/>
              </a:spcAft>
            </a:pPr>
            <a:r>
              <a:rPr sz="2000" b="1">
                <a:solidFill>
                  <a:srgbClr val="14140F"/>
                </a:solidFill>
                <a:latin typeface="Arial"/>
              </a:rPr>
              <a:t>ORION 26</a:t>
            </a:r>
          </a:p>
          <a:p>
            <a:pPr algn="ctr">
              <a:lnSpc>
                <a:spcPct val="110000"/>
              </a:lnSpc>
              <a:spcAft>
                <a:spcPts val="0"/>
              </a:spcAft>
            </a:pPr>
            <a:r>
              <a:rPr sz="1600" b="0">
                <a:solidFill>
                  <a:srgbClr val="3B3E46"/>
                </a:solidFill>
                <a:latin typeface="Arial"/>
              </a:rPr>
              <a:t>réseau social + premier COCKPIT</a:t>
            </a:r>
          </a:p>
        </p:txBody>
      </p:sp>
      <p:sp>
        <p:nvSpPr>
          <p:cNvPr id="17" name="Oval 16"/>
          <p:cNvSpPr/>
          <p:nvPr/>
        </p:nvSpPr>
        <p:spPr>
          <a:xfrm>
            <a:off x="2540000" y="3708400"/>
            <a:ext cx="203200" cy="203200"/>
          </a:xfrm>
          <a:prstGeom prst="ellipse">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641600" y="4699000"/>
            <a:ext cx="0" cy="17780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498600" y="5207000"/>
            <a:ext cx="2286000" cy="889000"/>
          </a:xfrm>
          <a:prstGeom prst="rect">
            <a:avLst/>
          </a:prstGeom>
          <a:noFill/>
        </p:spPr>
        <p:txBody>
          <a:bodyPr wrap="square" lIns="0" rIns="0" tIns="0" bIns="0" anchor="t">
            <a:spAutoFit/>
          </a:bodyPr>
          <a:lstStyle/>
          <a:p>
            <a:pPr algn="ctr">
              <a:lnSpc>
                <a:spcPct val="110000"/>
              </a:lnSpc>
              <a:spcAft>
                <a:spcPts val="0"/>
              </a:spcAft>
            </a:pPr>
            <a:r>
              <a:rPr sz="2000" b="1">
                <a:solidFill>
                  <a:srgbClr val="14140F"/>
                </a:solidFill>
                <a:latin typeface="Arial"/>
              </a:rPr>
              <a:t>AURIGE 2BB</a:t>
            </a:r>
          </a:p>
          <a:p>
            <a:pPr algn="ctr">
              <a:lnSpc>
                <a:spcPct val="110000"/>
              </a:lnSpc>
              <a:spcAft>
                <a:spcPts val="0"/>
              </a:spcAft>
            </a:pPr>
            <a:r>
              <a:rPr sz="1600" b="0">
                <a:solidFill>
                  <a:srgbClr val="3B3E46"/>
                </a:solidFill>
                <a:latin typeface="Arial"/>
              </a:rPr>
              <a:t>MELMIL, EHO, presse HTML</a:t>
            </a:r>
          </a:p>
        </p:txBody>
      </p:sp>
      <p:sp>
        <p:nvSpPr>
          <p:cNvPr id="20" name="Oval 19"/>
          <p:cNvSpPr/>
          <p:nvPr/>
        </p:nvSpPr>
        <p:spPr>
          <a:xfrm>
            <a:off x="4785359" y="3708400"/>
            <a:ext cx="203200" cy="203200"/>
          </a:xfrm>
          <a:prstGeom prst="ellipse">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886959" y="2794000"/>
            <a:ext cx="0" cy="88900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43959" y="1905000"/>
            <a:ext cx="2286000" cy="889000"/>
          </a:xfrm>
          <a:prstGeom prst="rect">
            <a:avLst/>
          </a:prstGeom>
          <a:noFill/>
        </p:spPr>
        <p:txBody>
          <a:bodyPr wrap="square" lIns="0" rIns="0" tIns="0" bIns="0" anchor="t">
            <a:spAutoFit/>
          </a:bodyPr>
          <a:lstStyle/>
          <a:p>
            <a:pPr algn="ctr">
              <a:lnSpc>
                <a:spcPct val="110000"/>
              </a:lnSpc>
              <a:spcAft>
                <a:spcPts val="0"/>
              </a:spcAft>
            </a:pPr>
            <a:r>
              <a:rPr sz="2000" b="1">
                <a:solidFill>
                  <a:srgbClr val="14140F"/>
                </a:solidFill>
                <a:latin typeface="Arial"/>
              </a:rPr>
              <a:t>MINOTAURE 26</a:t>
            </a:r>
          </a:p>
          <a:p>
            <a:pPr algn="ctr">
              <a:lnSpc>
                <a:spcPct val="110000"/>
              </a:lnSpc>
              <a:spcAft>
                <a:spcPts val="0"/>
              </a:spcAft>
            </a:pPr>
            <a:r>
              <a:rPr sz="1600" b="0">
                <a:solidFill>
                  <a:srgbClr val="3B3E46"/>
                </a:solidFill>
                <a:latin typeface="Arial"/>
              </a:rPr>
              <a:t>impact non mesurable</a:t>
            </a:r>
          </a:p>
        </p:txBody>
      </p:sp>
      <p:sp>
        <p:nvSpPr>
          <p:cNvPr id="23" name="Oval 22"/>
          <p:cNvSpPr/>
          <p:nvPr/>
        </p:nvSpPr>
        <p:spPr>
          <a:xfrm>
            <a:off x="8067040" y="3708400"/>
            <a:ext cx="203200" cy="203200"/>
          </a:xfrm>
          <a:prstGeom prst="ellipse">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8168640" y="4699000"/>
            <a:ext cx="0" cy="17780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025640" y="5207000"/>
            <a:ext cx="2286000" cy="889000"/>
          </a:xfrm>
          <a:prstGeom prst="rect">
            <a:avLst/>
          </a:prstGeom>
          <a:noFill/>
        </p:spPr>
        <p:txBody>
          <a:bodyPr wrap="square" lIns="0" rIns="0" tIns="0" bIns="0" anchor="t">
            <a:spAutoFit/>
          </a:bodyPr>
          <a:lstStyle/>
          <a:p>
            <a:pPr algn="ctr">
              <a:lnSpc>
                <a:spcPct val="110000"/>
              </a:lnSpc>
              <a:spcAft>
                <a:spcPts val="0"/>
              </a:spcAft>
            </a:pPr>
            <a:r>
              <a:rPr sz="2000" b="1">
                <a:solidFill>
                  <a:srgbClr val="14140F"/>
                </a:solidFill>
                <a:latin typeface="Arial"/>
              </a:rPr>
              <a:t>Fusion</a:t>
            </a:r>
          </a:p>
          <a:p>
            <a:pPr algn="ctr">
              <a:lnSpc>
                <a:spcPct val="110000"/>
              </a:lnSpc>
              <a:spcAft>
                <a:spcPts val="0"/>
              </a:spcAft>
            </a:pPr>
            <a:r>
              <a:rPr sz="1600" b="0">
                <a:solidFill>
                  <a:srgbClr val="3B3E46"/>
                </a:solidFill>
                <a:latin typeface="Arial"/>
              </a:rPr>
              <a:t>naissance de PLÉIADE</a:t>
            </a:r>
          </a:p>
        </p:txBody>
      </p:sp>
      <p:sp>
        <p:nvSpPr>
          <p:cNvPr id="26" name="Oval 25"/>
          <p:cNvSpPr/>
          <p:nvPr/>
        </p:nvSpPr>
        <p:spPr>
          <a:xfrm>
            <a:off x="11176000" y="3708400"/>
            <a:ext cx="203200" cy="203200"/>
          </a:xfrm>
          <a:prstGeom prst="ellipse">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277600" y="2794000"/>
            <a:ext cx="0" cy="88900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34600" y="1905000"/>
            <a:ext cx="2286000" cy="889000"/>
          </a:xfrm>
          <a:prstGeom prst="rect">
            <a:avLst/>
          </a:prstGeom>
          <a:noFill/>
        </p:spPr>
        <p:txBody>
          <a:bodyPr wrap="square" lIns="0" rIns="0" tIns="0" bIns="0" anchor="t">
            <a:spAutoFit/>
          </a:bodyPr>
          <a:lstStyle/>
          <a:p>
            <a:pPr algn="ctr">
              <a:lnSpc>
                <a:spcPct val="110000"/>
              </a:lnSpc>
              <a:spcAft>
                <a:spcPts val="0"/>
              </a:spcAft>
            </a:pPr>
            <a:r>
              <a:rPr sz="2000" b="1">
                <a:solidFill>
                  <a:srgbClr val="14140F"/>
                </a:solidFill>
                <a:latin typeface="Arial"/>
              </a:rPr>
              <a:t>DELATTRE 26</a:t>
            </a:r>
          </a:p>
          <a:p>
            <a:pPr algn="ctr">
              <a:lnSpc>
                <a:spcPct val="110000"/>
              </a:lnSpc>
              <a:spcAft>
                <a:spcPts val="0"/>
              </a:spcAft>
            </a:pPr>
            <a:r>
              <a:rPr sz="1600" b="0">
                <a:solidFill>
                  <a:srgbClr val="3B3E46"/>
                </a:solidFill>
                <a:latin typeface="Arial"/>
              </a:rPr>
              <a:t>avatars IA + mesure</a:t>
            </a:r>
          </a:p>
        </p:txBody>
      </p:sp>
      <p:sp>
        <p:nvSpPr>
          <p:cNvPr id="29" name="TextBox 28"/>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30" name="TextBox 29"/>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D'un ZIP envoyé par mail à une plateforme unique, mise à jour en direct</a:t>
            </a:r>
          </a:p>
        </p:txBody>
      </p:sp>
      <p:sp>
        <p:nvSpPr>
          <p:cNvPr id="3" name="TextBox 2"/>
          <p:cNvSpPr txBox="1"/>
          <p:nvPr/>
        </p:nvSpPr>
        <p:spPr>
          <a:xfrm>
            <a:off x="3302000" y="1905000"/>
            <a:ext cx="3810000" cy="3048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Avant (AURIGE 2BB, MINOTAURE)</a:t>
            </a:r>
          </a:p>
        </p:txBody>
      </p:sp>
      <p:sp>
        <p:nvSpPr>
          <p:cNvPr id="4" name="Rectangle 3"/>
          <p:cNvSpPr/>
          <p:nvPr/>
        </p:nvSpPr>
        <p:spPr>
          <a:xfrm>
            <a:off x="7315200" y="1828800"/>
            <a:ext cx="4267200" cy="42164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9200" y="1905000"/>
            <a:ext cx="3810000" cy="304800"/>
          </a:xfrm>
          <a:prstGeom prst="rect">
            <a:avLst/>
          </a:prstGeom>
          <a:noFill/>
        </p:spPr>
        <p:txBody>
          <a:bodyPr wrap="square" lIns="0" rIns="0" tIns="0" bIns="0" anchor="t">
            <a:spAutoFit/>
          </a:bodyPr>
          <a:lstStyle/>
          <a:p>
            <a:pPr algn="l">
              <a:lnSpc>
                <a:spcPct val="110000"/>
              </a:lnSpc>
              <a:spcAft>
                <a:spcPts val="0"/>
              </a:spcAft>
            </a:pPr>
            <a:r>
              <a:rPr sz="1800" b="1">
                <a:solidFill>
                  <a:srgbClr val="EDE3C8"/>
                </a:solidFill>
                <a:latin typeface="Arial"/>
              </a:rPr>
              <a:t>DELATTRE 26</a:t>
            </a:r>
          </a:p>
        </p:txBody>
      </p:sp>
      <p:sp>
        <p:nvSpPr>
          <p:cNvPr id="6" name="TextBox 5"/>
          <p:cNvSpPr txBox="1"/>
          <p:nvPr/>
        </p:nvSpPr>
        <p:spPr>
          <a:xfrm>
            <a:off x="609600" y="2413000"/>
            <a:ext cx="2540000" cy="508000"/>
          </a:xfrm>
          <a:prstGeom prst="rect">
            <a:avLst/>
          </a:prstGeom>
          <a:noFill/>
        </p:spPr>
        <p:txBody>
          <a:bodyPr wrap="square" lIns="0" rIns="0" tIns="0" bIns="0" anchor="ctr">
            <a:spAutoFit/>
          </a:bodyPr>
          <a:lstStyle/>
          <a:p>
            <a:pPr algn="l">
              <a:lnSpc>
                <a:spcPct val="110000"/>
              </a:lnSpc>
              <a:spcAft>
                <a:spcPts val="0"/>
              </a:spcAft>
            </a:pPr>
            <a:r>
              <a:rPr sz="2000" b="1">
                <a:solidFill>
                  <a:srgbClr val="14140F"/>
                </a:solidFill>
                <a:latin typeface="Arial"/>
              </a:rPr>
              <a:t>Déploiement</a:t>
            </a:r>
          </a:p>
        </p:txBody>
      </p:sp>
      <p:sp>
        <p:nvSpPr>
          <p:cNvPr id="7" name="TextBox 6"/>
          <p:cNvSpPr txBox="1"/>
          <p:nvPr/>
        </p:nvSpPr>
        <p:spPr>
          <a:xfrm>
            <a:off x="3302000" y="24130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3B3E46"/>
                </a:solidFill>
                <a:latin typeface="Arial"/>
              </a:rPr>
              <a:t>une copie par poste</a:t>
            </a:r>
          </a:p>
        </p:txBody>
      </p:sp>
      <p:sp>
        <p:nvSpPr>
          <p:cNvPr id="8" name="TextBox 7"/>
          <p:cNvSpPr txBox="1"/>
          <p:nvPr/>
        </p:nvSpPr>
        <p:spPr>
          <a:xfrm>
            <a:off x="7569200" y="24130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une zone en quelques minutes</a:t>
            </a:r>
          </a:p>
        </p:txBody>
      </p:sp>
      <p:sp>
        <p:nvSpPr>
          <p:cNvPr id="9" name="TextBox 8"/>
          <p:cNvSpPr txBox="1"/>
          <p:nvPr/>
        </p:nvSpPr>
        <p:spPr>
          <a:xfrm>
            <a:off x="609600" y="3124200"/>
            <a:ext cx="2540000" cy="508000"/>
          </a:xfrm>
          <a:prstGeom prst="rect">
            <a:avLst/>
          </a:prstGeom>
          <a:noFill/>
        </p:spPr>
        <p:txBody>
          <a:bodyPr wrap="square" lIns="0" rIns="0" tIns="0" bIns="0" anchor="ctr">
            <a:spAutoFit/>
          </a:bodyPr>
          <a:lstStyle/>
          <a:p>
            <a:pPr algn="l">
              <a:lnSpc>
                <a:spcPct val="110000"/>
              </a:lnSpc>
              <a:spcAft>
                <a:spcPts val="0"/>
              </a:spcAft>
            </a:pPr>
            <a:r>
              <a:rPr sz="2000" b="1">
                <a:solidFill>
                  <a:srgbClr val="14140F"/>
                </a:solidFill>
                <a:latin typeface="Arial"/>
              </a:rPr>
              <a:t>Personnages</a:t>
            </a:r>
          </a:p>
        </p:txBody>
      </p:sp>
      <p:sp>
        <p:nvSpPr>
          <p:cNvPr id="10" name="TextBox 9"/>
          <p:cNvSpPr txBox="1"/>
          <p:nvPr/>
        </p:nvSpPr>
        <p:spPr>
          <a:xfrm>
            <a:off x="3302000" y="31242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3B3E46"/>
                </a:solidFill>
                <a:latin typeface="Arial"/>
              </a:rPr>
              <a:t>fiches faites deux fois</a:t>
            </a:r>
          </a:p>
        </p:txBody>
      </p:sp>
      <p:sp>
        <p:nvSpPr>
          <p:cNvPr id="11" name="TextBox 10"/>
          <p:cNvSpPr txBox="1"/>
          <p:nvPr/>
        </p:nvSpPr>
        <p:spPr>
          <a:xfrm>
            <a:off x="7569200" y="31242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une fiche, la même partout (≈ 4 000)</a:t>
            </a:r>
          </a:p>
        </p:txBody>
      </p:sp>
      <p:cxnSp>
        <p:nvCxnSpPr>
          <p:cNvPr id="12" name="Connector 11"/>
          <p:cNvCxnSpPr/>
          <p:nvPr/>
        </p:nvCxnSpPr>
        <p:spPr>
          <a:xfrm>
            <a:off x="609600" y="3022600"/>
            <a:ext cx="6502400" cy="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835400"/>
            <a:ext cx="2540000" cy="508000"/>
          </a:xfrm>
          <a:prstGeom prst="rect">
            <a:avLst/>
          </a:prstGeom>
          <a:noFill/>
        </p:spPr>
        <p:txBody>
          <a:bodyPr wrap="square" lIns="0" rIns="0" tIns="0" bIns="0" anchor="ctr">
            <a:spAutoFit/>
          </a:bodyPr>
          <a:lstStyle/>
          <a:p>
            <a:pPr algn="l">
              <a:lnSpc>
                <a:spcPct val="110000"/>
              </a:lnSpc>
              <a:spcAft>
                <a:spcPts val="0"/>
              </a:spcAft>
            </a:pPr>
            <a:r>
              <a:rPr sz="2000" b="1">
                <a:solidFill>
                  <a:srgbClr val="14140F"/>
                </a:solidFill>
                <a:latin typeface="Arial"/>
              </a:rPr>
              <a:t>Population</a:t>
            </a:r>
          </a:p>
        </p:txBody>
      </p:sp>
      <p:sp>
        <p:nvSpPr>
          <p:cNvPr id="14" name="TextBox 13"/>
          <p:cNvSpPr txBox="1"/>
          <p:nvPr/>
        </p:nvSpPr>
        <p:spPr>
          <a:xfrm>
            <a:off x="3302000" y="38354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3B3E46"/>
                </a:solidFill>
                <a:latin typeface="Arial"/>
              </a:rPr>
              <a:t>muette sans animateur</a:t>
            </a:r>
          </a:p>
        </p:txBody>
      </p:sp>
      <p:sp>
        <p:nvSpPr>
          <p:cNvPr id="15" name="TextBox 14"/>
          <p:cNvSpPr txBox="1"/>
          <p:nvPr/>
        </p:nvSpPr>
        <p:spPr>
          <a:xfrm>
            <a:off x="7569200" y="38354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105 avatars IA qui réagissent</a:t>
            </a:r>
          </a:p>
        </p:txBody>
      </p:sp>
      <p:cxnSp>
        <p:nvCxnSpPr>
          <p:cNvPr id="16" name="Connector 15"/>
          <p:cNvCxnSpPr/>
          <p:nvPr/>
        </p:nvCxnSpPr>
        <p:spPr>
          <a:xfrm>
            <a:off x="609600" y="3733800"/>
            <a:ext cx="6502400" cy="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4546600"/>
            <a:ext cx="2540000" cy="508000"/>
          </a:xfrm>
          <a:prstGeom prst="rect">
            <a:avLst/>
          </a:prstGeom>
          <a:noFill/>
        </p:spPr>
        <p:txBody>
          <a:bodyPr wrap="square" lIns="0" rIns="0" tIns="0" bIns="0" anchor="ctr">
            <a:spAutoFit/>
          </a:bodyPr>
          <a:lstStyle/>
          <a:p>
            <a:pPr algn="l">
              <a:lnSpc>
                <a:spcPct val="110000"/>
              </a:lnSpc>
              <a:spcAft>
                <a:spcPts val="0"/>
              </a:spcAft>
            </a:pPr>
            <a:r>
              <a:rPr sz="2000" b="1">
                <a:solidFill>
                  <a:srgbClr val="14140F"/>
                </a:solidFill>
                <a:latin typeface="Arial"/>
              </a:rPr>
              <a:t>Injects</a:t>
            </a:r>
          </a:p>
        </p:txBody>
      </p:sp>
      <p:sp>
        <p:nvSpPr>
          <p:cNvPr id="18" name="TextBox 17"/>
          <p:cNvSpPr txBox="1"/>
          <p:nvPr/>
        </p:nvSpPr>
        <p:spPr>
          <a:xfrm>
            <a:off x="3302000" y="45466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3B3E46"/>
                </a:solidFill>
                <a:latin typeface="Arial"/>
              </a:rPr>
              <a:t>JEMM recopié à la main</a:t>
            </a:r>
          </a:p>
        </p:txBody>
      </p:sp>
      <p:sp>
        <p:nvSpPr>
          <p:cNvPr id="19" name="TextBox 18"/>
          <p:cNvSpPr txBox="1"/>
          <p:nvPr/>
        </p:nvSpPr>
        <p:spPr>
          <a:xfrm>
            <a:off x="7569200" y="45466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MELMIL importe JEMM</a:t>
            </a:r>
          </a:p>
        </p:txBody>
      </p:sp>
      <p:cxnSp>
        <p:nvCxnSpPr>
          <p:cNvPr id="20" name="Connector 19"/>
          <p:cNvCxnSpPr/>
          <p:nvPr/>
        </p:nvCxnSpPr>
        <p:spPr>
          <a:xfrm>
            <a:off x="609600" y="4445000"/>
            <a:ext cx="6502400" cy="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5257800"/>
            <a:ext cx="2540000" cy="508000"/>
          </a:xfrm>
          <a:prstGeom prst="rect">
            <a:avLst/>
          </a:prstGeom>
          <a:noFill/>
        </p:spPr>
        <p:txBody>
          <a:bodyPr wrap="square" lIns="0" rIns="0" tIns="0" bIns="0" anchor="ctr">
            <a:spAutoFit/>
          </a:bodyPr>
          <a:lstStyle/>
          <a:p>
            <a:pPr algn="l">
              <a:lnSpc>
                <a:spcPct val="110000"/>
              </a:lnSpc>
              <a:spcAft>
                <a:spcPts val="0"/>
              </a:spcAft>
            </a:pPr>
            <a:r>
              <a:rPr sz="2000" b="1">
                <a:solidFill>
                  <a:srgbClr val="14140F"/>
                </a:solidFill>
                <a:latin typeface="Arial"/>
              </a:rPr>
              <a:t>Mesure</a:t>
            </a:r>
          </a:p>
        </p:txBody>
      </p:sp>
      <p:sp>
        <p:nvSpPr>
          <p:cNvPr id="22" name="TextBox 21"/>
          <p:cNvSpPr txBox="1"/>
          <p:nvPr/>
        </p:nvSpPr>
        <p:spPr>
          <a:xfrm>
            <a:off x="3302000" y="52578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3B3E46"/>
                </a:solidFill>
                <a:latin typeface="Arial"/>
              </a:rPr>
              <a:t>impact non mesurable</a:t>
            </a:r>
          </a:p>
        </p:txBody>
      </p:sp>
      <p:sp>
        <p:nvSpPr>
          <p:cNvPr id="23" name="TextBox 22"/>
          <p:cNvSpPr txBox="1"/>
          <p:nvPr/>
        </p:nvSpPr>
        <p:spPr>
          <a:xfrm>
            <a:off x="7569200" y="5257800"/>
            <a:ext cx="3810000" cy="5080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opinion suivie au COCKPIT</a:t>
            </a:r>
          </a:p>
        </p:txBody>
      </p:sp>
      <p:cxnSp>
        <p:nvCxnSpPr>
          <p:cNvPr id="24" name="Connector 23"/>
          <p:cNvCxnSpPr/>
          <p:nvPr/>
        </p:nvCxnSpPr>
        <p:spPr>
          <a:xfrm>
            <a:off x="609600" y="5156200"/>
            <a:ext cx="6502400" cy="0"/>
          </a:xfrm>
          <a:prstGeom prst="line">
            <a:avLst/>
          </a:prstGeom>
          <a:ln w="12700">
            <a:solidFill>
              <a:srgbClr val="C9C3B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26" name="TextBox 25"/>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Une zone par exercice : les applications à la carte, une seule identité partout</a:t>
            </a:r>
          </a:p>
        </p:txBody>
      </p:sp>
      <p:sp>
        <p:nvSpPr>
          <p:cNvPr id="3" name="Zone"/>
          <p:cNvSpPr/>
          <p:nvPr/>
        </p:nvSpPr>
        <p:spPr>
          <a:xfrm>
            <a:off x="914400" y="1828800"/>
            <a:ext cx="10668000" cy="4216400"/>
          </a:xfrm>
          <a:prstGeom prst="rect">
            <a:avLst/>
          </a:prstGeom>
          <a:noFill/>
          <a:ln w="25400">
            <a:solidFill>
              <a:srgbClr val="1C1E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7600" y="1930400"/>
            <a:ext cx="5080000" cy="254000"/>
          </a:xfrm>
          <a:prstGeom prst="rect">
            <a:avLst/>
          </a:prstGeom>
          <a:noFill/>
        </p:spPr>
        <p:txBody>
          <a:bodyPr wrap="square" lIns="0" rIns="0" tIns="0" bIns="0" anchor="t">
            <a:spAutoFit/>
          </a:bodyPr>
          <a:lstStyle/>
          <a:p>
            <a:pPr algn="l">
              <a:lnSpc>
                <a:spcPct val="110000"/>
              </a:lnSpc>
              <a:spcAft>
                <a:spcPts val="0"/>
              </a:spcAft>
            </a:pPr>
            <a:r>
              <a:rPr sz="1600" b="1">
                <a:solidFill>
                  <a:srgbClr val="3B3E46"/>
                </a:solidFill>
                <a:latin typeface="Arial"/>
              </a:rPr>
              <a:t>Zone « DELATTRE 26 »</a:t>
            </a:r>
          </a:p>
        </p:txBody>
      </p:sp>
      <p:sp>
        <p:nvSpPr>
          <p:cNvPr id="5" name="Rectangle 4"/>
          <p:cNvSpPr/>
          <p:nvPr/>
        </p:nvSpPr>
        <p:spPr>
          <a:xfrm>
            <a:off x="660400" y="3683000"/>
            <a:ext cx="508000" cy="508000"/>
          </a:xfrm>
          <a:prstGeom prst="rect">
            <a:avLst/>
          </a:prstGeom>
          <a:solidFill>
            <a:srgbClr val="F3F0E7"/>
          </a:solidFill>
          <a:ln w="25400">
            <a:solidFill>
              <a:srgbClr val="1C1E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3683000"/>
            <a:ext cx="508000" cy="508000"/>
          </a:xfrm>
          <a:prstGeom prst="rect">
            <a:avLst/>
          </a:prstGeom>
          <a:noFill/>
        </p:spPr>
        <p:txBody>
          <a:bodyPr wrap="square" lIns="0" rIns="0" tIns="0" bIns="0" anchor="ctr">
            <a:spAutoFit/>
          </a:bodyPr>
          <a:lstStyle/>
          <a:p>
            <a:pPr algn="ctr">
              <a:lnSpc>
                <a:spcPct val="110000"/>
              </a:lnSpc>
              <a:spcAft>
                <a:spcPts val="0"/>
              </a:spcAft>
            </a:pPr>
            <a:r>
              <a:rPr sz="1200" b="1">
                <a:solidFill>
                  <a:srgbClr val="1C1E21"/>
                </a:solidFill>
                <a:latin typeface="Arial"/>
              </a:rPr>
              <a:t>VPN</a:t>
            </a:r>
          </a:p>
        </p:txBody>
      </p:sp>
      <p:sp>
        <p:nvSpPr>
          <p:cNvPr id="7" name="TextBox 6"/>
          <p:cNvSpPr txBox="1"/>
          <p:nvPr/>
        </p:nvSpPr>
        <p:spPr>
          <a:xfrm>
            <a:off x="1422400" y="2311400"/>
            <a:ext cx="3175000" cy="304800"/>
          </a:xfrm>
          <a:prstGeom prst="rect">
            <a:avLst/>
          </a:prstGeom>
          <a:noFill/>
        </p:spPr>
        <p:txBody>
          <a:bodyPr wrap="square" lIns="0" rIns="0" tIns="0" bIns="0" anchor="t">
            <a:spAutoFit/>
          </a:bodyPr>
          <a:lstStyle/>
          <a:p>
            <a:pPr algn="l">
              <a:lnSpc>
                <a:spcPct val="110000"/>
              </a:lnSpc>
              <a:spcAft>
                <a:spcPts val="0"/>
              </a:spcAft>
            </a:pPr>
            <a:r>
              <a:rPr sz="1800" b="1">
                <a:solidFill>
                  <a:srgbClr val="14140F"/>
                </a:solidFill>
                <a:latin typeface="Arial"/>
              </a:rPr>
              <a:t>Préparer</a:t>
            </a:r>
          </a:p>
        </p:txBody>
      </p:sp>
      <p:sp>
        <p:nvSpPr>
          <p:cNvPr id="8" name="Rectangle 7"/>
          <p:cNvSpPr/>
          <p:nvPr/>
        </p:nvSpPr>
        <p:spPr>
          <a:xfrm>
            <a:off x="1422400" y="27178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7178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EHO</a:t>
            </a:r>
          </a:p>
        </p:txBody>
      </p:sp>
      <p:sp>
        <p:nvSpPr>
          <p:cNvPr id="10" name="Rectangle 9"/>
          <p:cNvSpPr/>
          <p:nvPr/>
        </p:nvSpPr>
        <p:spPr>
          <a:xfrm>
            <a:off x="1422400" y="33782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33782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MELMIL</a:t>
            </a:r>
          </a:p>
        </p:txBody>
      </p:sp>
      <p:sp>
        <p:nvSpPr>
          <p:cNvPr id="12" name="Rectangle 11"/>
          <p:cNvSpPr/>
          <p:nvPr/>
        </p:nvSpPr>
        <p:spPr>
          <a:xfrm>
            <a:off x="1422400" y="40386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40386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Animation</a:t>
            </a:r>
          </a:p>
        </p:txBody>
      </p:sp>
      <p:sp>
        <p:nvSpPr>
          <p:cNvPr id="14" name="TextBox 13"/>
          <p:cNvSpPr txBox="1"/>
          <p:nvPr/>
        </p:nvSpPr>
        <p:spPr>
          <a:xfrm>
            <a:off x="4851400" y="2311400"/>
            <a:ext cx="3175000" cy="304800"/>
          </a:xfrm>
          <a:prstGeom prst="rect">
            <a:avLst/>
          </a:prstGeom>
          <a:noFill/>
        </p:spPr>
        <p:txBody>
          <a:bodyPr wrap="square" lIns="0" rIns="0" tIns="0" bIns="0" anchor="t">
            <a:spAutoFit/>
          </a:bodyPr>
          <a:lstStyle/>
          <a:p>
            <a:pPr algn="l">
              <a:lnSpc>
                <a:spcPct val="110000"/>
              </a:lnSpc>
              <a:spcAft>
                <a:spcPts val="0"/>
              </a:spcAft>
            </a:pPr>
            <a:r>
              <a:rPr sz="1800" b="1">
                <a:solidFill>
                  <a:srgbClr val="14140F"/>
                </a:solidFill>
                <a:latin typeface="Arial"/>
              </a:rPr>
              <a:t>Jouer</a:t>
            </a:r>
          </a:p>
        </p:txBody>
      </p:sp>
      <p:sp>
        <p:nvSpPr>
          <p:cNvPr id="15" name="Rectangle 14"/>
          <p:cNvSpPr/>
          <p:nvPr/>
        </p:nvSpPr>
        <p:spPr>
          <a:xfrm>
            <a:off x="4851400" y="27178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27178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Réseau social</a:t>
            </a:r>
          </a:p>
        </p:txBody>
      </p:sp>
      <p:sp>
        <p:nvSpPr>
          <p:cNvPr id="17" name="Rectangle 16"/>
          <p:cNvSpPr/>
          <p:nvPr/>
        </p:nvSpPr>
        <p:spPr>
          <a:xfrm>
            <a:off x="4851400" y="33782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33782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Presse</a:t>
            </a:r>
          </a:p>
        </p:txBody>
      </p:sp>
      <p:sp>
        <p:nvSpPr>
          <p:cNvPr id="19" name="Rectangle 18"/>
          <p:cNvSpPr/>
          <p:nvPr/>
        </p:nvSpPr>
        <p:spPr>
          <a:xfrm>
            <a:off x="4851400" y="40386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40386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Messagerie</a:t>
            </a:r>
          </a:p>
        </p:txBody>
      </p:sp>
      <p:sp>
        <p:nvSpPr>
          <p:cNvPr id="21" name="TextBox 20"/>
          <p:cNvSpPr txBox="1"/>
          <p:nvPr/>
        </p:nvSpPr>
        <p:spPr>
          <a:xfrm>
            <a:off x="8280400" y="2311400"/>
            <a:ext cx="3175000" cy="304800"/>
          </a:xfrm>
          <a:prstGeom prst="rect">
            <a:avLst/>
          </a:prstGeom>
          <a:noFill/>
        </p:spPr>
        <p:txBody>
          <a:bodyPr wrap="square" lIns="0" rIns="0" tIns="0" bIns="0" anchor="t">
            <a:spAutoFit/>
          </a:bodyPr>
          <a:lstStyle/>
          <a:p>
            <a:pPr algn="l">
              <a:lnSpc>
                <a:spcPct val="110000"/>
              </a:lnSpc>
              <a:spcAft>
                <a:spcPts val="0"/>
              </a:spcAft>
            </a:pPr>
            <a:r>
              <a:rPr sz="1800" b="1">
                <a:solidFill>
                  <a:srgbClr val="14140F"/>
                </a:solidFill>
                <a:latin typeface="Arial"/>
              </a:rPr>
              <a:t>Observer et faire réagir</a:t>
            </a:r>
          </a:p>
        </p:txBody>
      </p:sp>
      <p:sp>
        <p:nvSpPr>
          <p:cNvPr id="22" name="Rectangle 21"/>
          <p:cNvSpPr/>
          <p:nvPr/>
        </p:nvSpPr>
        <p:spPr>
          <a:xfrm>
            <a:off x="8280400" y="27178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27178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COCKPIT</a:t>
            </a:r>
          </a:p>
        </p:txBody>
      </p:sp>
      <p:sp>
        <p:nvSpPr>
          <p:cNvPr id="24" name="Rectangle 23"/>
          <p:cNvSpPr/>
          <p:nvPr/>
        </p:nvSpPr>
        <p:spPr>
          <a:xfrm>
            <a:off x="8280400" y="3378200"/>
            <a:ext cx="3175000" cy="5334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3378200"/>
            <a:ext cx="2921000" cy="533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Moteur IA</a:t>
            </a:r>
          </a:p>
        </p:txBody>
      </p:sp>
      <p:sp>
        <p:nvSpPr>
          <p:cNvPr id="26" name="Rectangle 25"/>
          <p:cNvSpPr/>
          <p:nvPr/>
        </p:nvSpPr>
        <p:spPr>
          <a:xfrm>
            <a:off x="1422400" y="4876800"/>
            <a:ext cx="10033000" cy="6604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76400" y="4876800"/>
            <a:ext cx="9652000" cy="660400"/>
          </a:xfrm>
          <a:prstGeom prst="rect">
            <a:avLst/>
          </a:prstGeom>
          <a:noFill/>
        </p:spPr>
        <p:txBody>
          <a:bodyPr wrap="square" lIns="0" rIns="0" tIns="0" bIns="0" anchor="ctr">
            <a:spAutoFit/>
          </a:bodyPr>
          <a:lstStyle/>
          <a:p>
            <a:pPr algn="l">
              <a:lnSpc>
                <a:spcPct val="110000"/>
              </a:lnSpc>
              <a:spcAft>
                <a:spcPts val="0"/>
              </a:spcAft>
            </a:pPr>
            <a:r>
              <a:rPr sz="2000" b="0">
                <a:solidFill>
                  <a:srgbClr val="EDE3C8"/>
                </a:solidFill>
                <a:latin typeface="Arial"/>
              </a:rPr>
              <a:t>EHO : chaque personnage existe une fois, avec la même identité dans toutes les applications</a:t>
            </a:r>
          </a:p>
        </p:txBody>
      </p:sp>
      <p:sp>
        <p:nvSpPr>
          <p:cNvPr id="28" name="TextBox 27"/>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29" name="TextBox 28"/>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Du plan JEMM à l'écran des joueurs, dans un seul circuit</a:t>
            </a:r>
          </a:p>
        </p:txBody>
      </p:sp>
      <p:sp>
        <p:nvSpPr>
          <p:cNvPr id="3" name="Rectangle 2"/>
          <p:cNvSpPr/>
          <p:nvPr/>
        </p:nvSpPr>
        <p:spPr>
          <a:xfrm>
            <a:off x="609600" y="2159000"/>
            <a:ext cx="1574800" cy="2032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1</a:t>
            </a:r>
          </a:p>
        </p:txBody>
      </p:sp>
      <p:sp>
        <p:nvSpPr>
          <p:cNvPr id="5" name="TextBox 4"/>
          <p:cNvSpPr txBox="1"/>
          <p:nvPr/>
        </p:nvSpPr>
        <p:spPr>
          <a:xfrm>
            <a:off x="7620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14140F"/>
                </a:solidFill>
                <a:latin typeface="Arial"/>
              </a:rPr>
              <a:t>JEMM</a:t>
            </a:r>
          </a:p>
          <a:p>
            <a:pPr algn="l">
              <a:lnSpc>
                <a:spcPct val="110000"/>
              </a:lnSpc>
              <a:spcAft>
                <a:spcPts val="0"/>
              </a:spcAft>
            </a:pPr>
            <a:r>
              <a:rPr sz="1600" b="0">
                <a:solidFill>
                  <a:srgbClr val="3B3E46"/>
                </a:solidFill>
                <a:latin typeface="Arial"/>
              </a:rPr>
              <a:t>l'incident est planifié</a:t>
            </a:r>
          </a:p>
        </p:txBody>
      </p:sp>
      <p:sp>
        <p:nvSpPr>
          <p:cNvPr id="6" name="Right Arrow 5"/>
          <p:cNvSpPr/>
          <p:nvPr/>
        </p:nvSpPr>
        <p:spPr>
          <a:xfrm>
            <a:off x="2235200" y="3048000"/>
            <a:ext cx="203200" cy="2540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89200" y="2159000"/>
            <a:ext cx="1574800" cy="2032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416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C3C8D8"/>
                </a:solidFill>
                <a:latin typeface="Arial"/>
              </a:rPr>
              <a:t>2</a:t>
            </a:r>
          </a:p>
        </p:txBody>
      </p:sp>
      <p:sp>
        <p:nvSpPr>
          <p:cNvPr id="9" name="TextBox 8"/>
          <p:cNvSpPr txBox="1"/>
          <p:nvPr/>
        </p:nvSpPr>
        <p:spPr>
          <a:xfrm>
            <a:off x="26416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EDE3C8"/>
                </a:solidFill>
                <a:latin typeface="Arial"/>
              </a:rPr>
              <a:t>MELMIL</a:t>
            </a:r>
          </a:p>
          <a:p>
            <a:pPr algn="l">
              <a:lnSpc>
                <a:spcPct val="110000"/>
              </a:lnSpc>
              <a:spcAft>
                <a:spcPts val="0"/>
              </a:spcAft>
            </a:pPr>
            <a:r>
              <a:rPr sz="1600" b="0">
                <a:solidFill>
                  <a:srgbClr val="C3C8D8"/>
                </a:solidFill>
                <a:latin typeface="Arial"/>
              </a:rPr>
              <a:t>on le prépare</a:t>
            </a:r>
          </a:p>
        </p:txBody>
      </p:sp>
      <p:sp>
        <p:nvSpPr>
          <p:cNvPr id="10" name="Right Arrow 9"/>
          <p:cNvSpPr/>
          <p:nvPr/>
        </p:nvSpPr>
        <p:spPr>
          <a:xfrm>
            <a:off x="4114800" y="3048000"/>
            <a:ext cx="203200" cy="2540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8800" y="2159000"/>
            <a:ext cx="1574800" cy="2032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3</a:t>
            </a:r>
          </a:p>
        </p:txBody>
      </p:sp>
      <p:sp>
        <p:nvSpPr>
          <p:cNvPr id="13" name="TextBox 12"/>
          <p:cNvSpPr txBox="1"/>
          <p:nvPr/>
        </p:nvSpPr>
        <p:spPr>
          <a:xfrm>
            <a:off x="45212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14140F"/>
                </a:solidFill>
                <a:latin typeface="Arial"/>
              </a:rPr>
              <a:t>Animation</a:t>
            </a:r>
          </a:p>
          <a:p>
            <a:pPr algn="l">
              <a:lnSpc>
                <a:spcPct val="110000"/>
              </a:lnSpc>
              <a:spcAft>
                <a:spcPts val="0"/>
              </a:spcAft>
            </a:pPr>
            <a:r>
              <a:rPr sz="1600" b="0">
                <a:solidFill>
                  <a:srgbClr val="3B3E46"/>
                </a:solidFill>
                <a:latin typeface="Arial"/>
              </a:rPr>
              <a:t>on programme</a:t>
            </a:r>
          </a:p>
        </p:txBody>
      </p:sp>
      <p:sp>
        <p:nvSpPr>
          <p:cNvPr id="14" name="Right Arrow 13"/>
          <p:cNvSpPr/>
          <p:nvPr/>
        </p:nvSpPr>
        <p:spPr>
          <a:xfrm>
            <a:off x="5994400" y="3048000"/>
            <a:ext cx="203200" cy="2540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400" y="2159000"/>
            <a:ext cx="1574800" cy="2032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4</a:t>
            </a:r>
          </a:p>
        </p:txBody>
      </p:sp>
      <p:sp>
        <p:nvSpPr>
          <p:cNvPr id="17" name="TextBox 16"/>
          <p:cNvSpPr txBox="1"/>
          <p:nvPr/>
        </p:nvSpPr>
        <p:spPr>
          <a:xfrm>
            <a:off x="64008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14140F"/>
                </a:solidFill>
                <a:latin typeface="Arial"/>
              </a:rPr>
              <a:t>À l'heure</a:t>
            </a:r>
          </a:p>
          <a:p>
            <a:pPr algn="l">
              <a:lnSpc>
                <a:spcPct val="110000"/>
              </a:lnSpc>
              <a:spcAft>
                <a:spcPts val="0"/>
              </a:spcAft>
            </a:pPr>
            <a:r>
              <a:rPr sz="1600" b="0">
                <a:solidFill>
                  <a:srgbClr val="3B3E46"/>
                </a:solidFill>
                <a:latin typeface="Arial"/>
              </a:rPr>
              <a:t>publication automatique</a:t>
            </a:r>
          </a:p>
        </p:txBody>
      </p:sp>
      <p:sp>
        <p:nvSpPr>
          <p:cNvPr id="18" name="Right Arrow 17"/>
          <p:cNvSpPr/>
          <p:nvPr/>
        </p:nvSpPr>
        <p:spPr>
          <a:xfrm>
            <a:off x="7874000" y="3048000"/>
            <a:ext cx="203200" cy="2540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2159000"/>
            <a:ext cx="1574800" cy="2032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04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3B3E46"/>
                </a:solidFill>
                <a:latin typeface="Arial"/>
              </a:rPr>
              <a:t>5</a:t>
            </a:r>
          </a:p>
        </p:txBody>
      </p:sp>
      <p:sp>
        <p:nvSpPr>
          <p:cNvPr id="21" name="TextBox 20"/>
          <p:cNvSpPr txBox="1"/>
          <p:nvPr/>
        </p:nvSpPr>
        <p:spPr>
          <a:xfrm>
            <a:off x="82804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14140F"/>
                </a:solidFill>
                <a:latin typeface="Arial"/>
              </a:rPr>
              <a:t>Joueurs</a:t>
            </a:r>
          </a:p>
          <a:p>
            <a:pPr algn="l">
              <a:lnSpc>
                <a:spcPct val="110000"/>
              </a:lnSpc>
              <a:spcAft>
                <a:spcPts val="0"/>
              </a:spcAft>
            </a:pPr>
            <a:r>
              <a:rPr sz="1600" b="0">
                <a:solidFill>
                  <a:srgbClr val="3B3E46"/>
                </a:solidFill>
                <a:latin typeface="Arial"/>
              </a:rPr>
              <a:t>réseau, presse, messagerie</a:t>
            </a:r>
          </a:p>
        </p:txBody>
      </p:sp>
      <p:sp>
        <p:nvSpPr>
          <p:cNvPr id="22" name="Right Arrow 21"/>
          <p:cNvSpPr/>
          <p:nvPr/>
        </p:nvSpPr>
        <p:spPr>
          <a:xfrm>
            <a:off x="9753600" y="3048000"/>
            <a:ext cx="203200" cy="2540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007600" y="2159000"/>
            <a:ext cx="1574800" cy="2032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60000" y="2311400"/>
            <a:ext cx="1270000" cy="304800"/>
          </a:xfrm>
          <a:prstGeom prst="rect">
            <a:avLst/>
          </a:prstGeom>
          <a:noFill/>
        </p:spPr>
        <p:txBody>
          <a:bodyPr wrap="square" lIns="0" rIns="0" tIns="0" bIns="0" anchor="t">
            <a:spAutoFit/>
          </a:bodyPr>
          <a:lstStyle/>
          <a:p>
            <a:pPr algn="l">
              <a:lnSpc>
                <a:spcPct val="110000"/>
              </a:lnSpc>
              <a:spcAft>
                <a:spcPts val="0"/>
              </a:spcAft>
            </a:pPr>
            <a:r>
              <a:rPr sz="1800" b="1">
                <a:solidFill>
                  <a:srgbClr val="C3C8D8"/>
                </a:solidFill>
                <a:latin typeface="Arial"/>
              </a:rPr>
              <a:t>6</a:t>
            </a:r>
          </a:p>
        </p:txBody>
      </p:sp>
      <p:sp>
        <p:nvSpPr>
          <p:cNvPr id="25" name="TextBox 24"/>
          <p:cNvSpPr txBox="1"/>
          <p:nvPr/>
        </p:nvSpPr>
        <p:spPr>
          <a:xfrm>
            <a:off x="10160000" y="2717800"/>
            <a:ext cx="1270000" cy="1397000"/>
          </a:xfrm>
          <a:prstGeom prst="rect">
            <a:avLst/>
          </a:prstGeom>
          <a:noFill/>
        </p:spPr>
        <p:txBody>
          <a:bodyPr wrap="square" lIns="0" rIns="0" tIns="0" bIns="0" anchor="t">
            <a:spAutoFit/>
          </a:bodyPr>
          <a:lstStyle/>
          <a:p>
            <a:pPr algn="l">
              <a:lnSpc>
                <a:spcPct val="110000"/>
              </a:lnSpc>
              <a:spcAft>
                <a:spcPts val="0"/>
              </a:spcAft>
            </a:pPr>
            <a:r>
              <a:rPr sz="2000" b="1">
                <a:solidFill>
                  <a:srgbClr val="EDE3C8"/>
                </a:solidFill>
                <a:latin typeface="Arial"/>
              </a:rPr>
              <a:t>COCKPIT</a:t>
            </a:r>
          </a:p>
          <a:p>
            <a:pPr algn="l">
              <a:lnSpc>
                <a:spcPct val="110000"/>
              </a:lnSpc>
              <a:spcAft>
                <a:spcPts val="0"/>
              </a:spcAft>
            </a:pPr>
            <a:r>
              <a:rPr sz="1600" b="0">
                <a:solidFill>
                  <a:srgbClr val="C3C8D8"/>
                </a:solidFill>
                <a:latin typeface="Arial"/>
              </a:rPr>
              <a:t>on mesure</a:t>
            </a:r>
          </a:p>
        </p:txBody>
      </p:sp>
      <p:sp>
        <p:nvSpPr>
          <p:cNvPr id="26" name="Rectangle 25"/>
          <p:cNvSpPr/>
          <p:nvPr/>
        </p:nvSpPr>
        <p:spPr>
          <a:xfrm>
            <a:off x="609600" y="4724400"/>
            <a:ext cx="10972800" cy="660400"/>
          </a:xfrm>
          <a:prstGeom prst="rect">
            <a:avLst/>
          </a:prstGeom>
          <a:solidFill>
            <a:srgbClr val="F3F0E7"/>
          </a:solidFill>
          <a:ln w="12700">
            <a:solidFill>
              <a:srgbClr val="1C1E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3600" y="4724400"/>
            <a:ext cx="10541000" cy="660400"/>
          </a:xfrm>
          <a:prstGeom prst="rect">
            <a:avLst/>
          </a:prstGeom>
          <a:noFill/>
        </p:spPr>
        <p:txBody>
          <a:bodyPr wrap="square" lIns="0" rIns="0" tIns="0" bIns="0" anchor="ctr">
            <a:spAutoFit/>
          </a:bodyPr>
          <a:lstStyle/>
          <a:p>
            <a:pPr algn="l">
              <a:lnSpc>
                <a:spcPct val="110000"/>
              </a:lnSpc>
              <a:spcAft>
                <a:spcPts val="0"/>
              </a:spcAft>
            </a:pPr>
            <a:r>
              <a:rPr sz="2000" b="0">
                <a:solidFill>
                  <a:srgbClr val="1C1E21"/>
                </a:solidFill>
                <a:latin typeface="Arial"/>
              </a:rPr>
              <a:t>À chaque étape, les mêmes personnages, venus de l'EHO</a:t>
            </a:r>
          </a:p>
        </p:txBody>
      </p:sp>
      <p:sp>
        <p:nvSpPr>
          <p:cNvPr id="28" name="TextBox 27"/>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29" name="TextBox 28"/>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1719"/>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EDEEF2"/>
                </a:solidFill>
                <a:latin typeface="Arial"/>
              </a:rPr>
              <a:t>Nouveauté DELATTRE 26 : un espace informationnel qui réagit</a:t>
            </a:r>
          </a:p>
        </p:txBody>
      </p:sp>
      <p:sp>
        <p:nvSpPr>
          <p:cNvPr id="3" name="TextBox 2"/>
          <p:cNvSpPr txBox="1"/>
          <p:nvPr/>
        </p:nvSpPr>
        <p:spPr>
          <a:xfrm>
            <a:off x="609600" y="1905000"/>
            <a:ext cx="5080000" cy="1905000"/>
          </a:xfrm>
          <a:prstGeom prst="rect">
            <a:avLst/>
          </a:prstGeom>
          <a:noFill/>
        </p:spPr>
        <p:txBody>
          <a:bodyPr wrap="square" lIns="0" rIns="0" tIns="0" bIns="0" anchor="t">
            <a:spAutoFit/>
          </a:bodyPr>
          <a:lstStyle/>
          <a:p>
            <a:pPr algn="l">
              <a:lnSpc>
                <a:spcPct val="110000"/>
              </a:lnSpc>
              <a:spcAft>
                <a:spcPts val="0"/>
              </a:spcAft>
            </a:pPr>
            <a:r>
              <a:rPr sz="12000" b="1">
                <a:solidFill>
                  <a:srgbClr val="EDE3C8"/>
                </a:solidFill>
                <a:latin typeface="Arial"/>
              </a:rPr>
              <a:t>105</a:t>
            </a:r>
          </a:p>
        </p:txBody>
      </p:sp>
      <p:sp>
        <p:nvSpPr>
          <p:cNvPr id="4" name="TextBox 3"/>
          <p:cNvSpPr txBox="1"/>
          <p:nvPr/>
        </p:nvSpPr>
        <p:spPr>
          <a:xfrm>
            <a:off x="609600" y="3810000"/>
            <a:ext cx="5080000" cy="889000"/>
          </a:xfrm>
          <a:prstGeom prst="rect">
            <a:avLst/>
          </a:prstGeom>
          <a:noFill/>
        </p:spPr>
        <p:txBody>
          <a:bodyPr wrap="square" lIns="0" rIns="0" tIns="0" bIns="0" anchor="t">
            <a:spAutoFit/>
          </a:bodyPr>
          <a:lstStyle/>
          <a:p>
            <a:pPr algn="l">
              <a:lnSpc>
                <a:spcPct val="110000"/>
              </a:lnSpc>
              <a:spcAft>
                <a:spcPts val="0"/>
              </a:spcAft>
            </a:pPr>
            <a:r>
              <a:rPr sz="2400" b="0">
                <a:solidFill>
                  <a:srgbClr val="EDEEF2"/>
                </a:solidFill>
                <a:latin typeface="Arial"/>
              </a:rPr>
              <a:t>avatars animés par IA,</a:t>
            </a:r>
          </a:p>
          <a:p>
            <a:pPr algn="l">
              <a:lnSpc>
                <a:spcPct val="110000"/>
              </a:lnSpc>
              <a:spcAft>
                <a:spcPts val="0"/>
              </a:spcAft>
            </a:pPr>
            <a:r>
              <a:rPr sz="2400" b="0">
                <a:solidFill>
                  <a:srgbClr val="EDEEF2"/>
                </a:solidFill>
                <a:latin typeface="Arial"/>
              </a:rPr>
              <a:t>joués par personne</a:t>
            </a:r>
          </a:p>
        </p:txBody>
      </p:sp>
      <p:sp>
        <p:nvSpPr>
          <p:cNvPr id="5" name="TextBox 4"/>
          <p:cNvSpPr txBox="1"/>
          <p:nvPr/>
        </p:nvSpPr>
        <p:spPr>
          <a:xfrm>
            <a:off x="6096000" y="2032000"/>
            <a:ext cx="5486400" cy="304800"/>
          </a:xfrm>
          <a:prstGeom prst="rect">
            <a:avLst/>
          </a:prstGeom>
          <a:noFill/>
        </p:spPr>
        <p:txBody>
          <a:bodyPr wrap="square" lIns="0" rIns="0" tIns="0" bIns="0" anchor="t">
            <a:spAutoFit/>
          </a:bodyPr>
          <a:lstStyle/>
          <a:p>
            <a:pPr algn="l">
              <a:lnSpc>
                <a:spcPct val="110000"/>
              </a:lnSpc>
              <a:spcAft>
                <a:spcPts val="0"/>
              </a:spcAft>
            </a:pPr>
            <a:r>
              <a:rPr sz="1800" b="1">
                <a:solidFill>
                  <a:srgbClr val="EDEEF2"/>
                </a:solidFill>
                <a:latin typeface="Arial"/>
              </a:rPr>
              <a:t>100 citoyens de l'Arnland</a:t>
            </a:r>
          </a:p>
        </p:txBody>
      </p:sp>
      <p:sp>
        <p:nvSpPr>
          <p:cNvPr id="6" name="Rectangle 5"/>
          <p:cNvSpPr/>
          <p:nvPr/>
        </p:nvSpPr>
        <p:spPr>
          <a:xfrm>
            <a:off x="6096000" y="2489200"/>
            <a:ext cx="797560" cy="609600"/>
          </a:xfrm>
          <a:prstGeom prst="rect">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0" y="3200400"/>
            <a:ext cx="822960" cy="635000"/>
          </a:xfrm>
          <a:prstGeom prst="rect">
            <a:avLst/>
          </a:prstGeom>
          <a:noFill/>
        </p:spPr>
        <p:txBody>
          <a:bodyPr wrap="square" lIns="0" rIns="0" tIns="0" bIns="0" anchor="t">
            <a:spAutoFit/>
          </a:bodyPr>
          <a:lstStyle/>
          <a:p>
            <a:pPr algn="ctr">
              <a:lnSpc>
                <a:spcPct val="110000"/>
              </a:lnSpc>
              <a:spcAft>
                <a:spcPts val="0"/>
              </a:spcAft>
            </a:pPr>
            <a:r>
              <a:rPr sz="2000" b="1">
                <a:solidFill>
                  <a:srgbClr val="EDEEF2"/>
                </a:solidFill>
                <a:latin typeface="Arial"/>
              </a:rPr>
              <a:t>15 %</a:t>
            </a:r>
          </a:p>
          <a:p>
            <a:pPr algn="ctr">
              <a:lnSpc>
                <a:spcPct val="110000"/>
              </a:lnSpc>
              <a:spcAft>
                <a:spcPts val="0"/>
              </a:spcAft>
            </a:pPr>
            <a:r>
              <a:rPr sz="1600" b="0">
                <a:solidFill>
                  <a:srgbClr val="9AA0B4"/>
                </a:solidFill>
                <a:latin typeface="Arial"/>
              </a:rPr>
              <a:t>pro-Mercure</a:t>
            </a:r>
          </a:p>
        </p:txBody>
      </p:sp>
      <p:sp>
        <p:nvSpPr>
          <p:cNvPr id="8" name="Rectangle 7"/>
          <p:cNvSpPr/>
          <p:nvPr/>
        </p:nvSpPr>
        <p:spPr>
          <a:xfrm>
            <a:off x="6918959" y="2489200"/>
            <a:ext cx="3815079" cy="609600"/>
          </a:xfrm>
          <a:prstGeom prst="rect">
            <a:avLst/>
          </a:prstGeom>
          <a:solidFill>
            <a:srgbClr val="C3C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18959" y="3200400"/>
            <a:ext cx="3840479" cy="635000"/>
          </a:xfrm>
          <a:prstGeom prst="rect">
            <a:avLst/>
          </a:prstGeom>
          <a:noFill/>
        </p:spPr>
        <p:txBody>
          <a:bodyPr wrap="square" lIns="0" rIns="0" tIns="0" bIns="0" anchor="t">
            <a:spAutoFit/>
          </a:bodyPr>
          <a:lstStyle/>
          <a:p>
            <a:pPr algn="ctr">
              <a:lnSpc>
                <a:spcPct val="110000"/>
              </a:lnSpc>
              <a:spcAft>
                <a:spcPts val="0"/>
              </a:spcAft>
            </a:pPr>
            <a:r>
              <a:rPr sz="2000" b="1">
                <a:solidFill>
                  <a:srgbClr val="EDEEF2"/>
                </a:solidFill>
                <a:latin typeface="Arial"/>
              </a:rPr>
              <a:t>70 %</a:t>
            </a:r>
          </a:p>
          <a:p>
            <a:pPr algn="ctr">
              <a:lnSpc>
                <a:spcPct val="110000"/>
              </a:lnSpc>
              <a:spcAft>
                <a:spcPts val="0"/>
              </a:spcAft>
            </a:pPr>
            <a:r>
              <a:rPr sz="1600" b="0">
                <a:solidFill>
                  <a:srgbClr val="9AA0B4"/>
                </a:solidFill>
                <a:latin typeface="Arial"/>
              </a:rPr>
              <a:t>neutres</a:t>
            </a:r>
          </a:p>
        </p:txBody>
      </p:sp>
      <p:sp>
        <p:nvSpPr>
          <p:cNvPr id="10" name="Rectangle 9"/>
          <p:cNvSpPr/>
          <p:nvPr/>
        </p:nvSpPr>
        <p:spPr>
          <a:xfrm>
            <a:off x="10759440" y="2489200"/>
            <a:ext cx="797560" cy="609600"/>
          </a:xfrm>
          <a:prstGeom prst="rect">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59440" y="3200400"/>
            <a:ext cx="822960" cy="635000"/>
          </a:xfrm>
          <a:prstGeom prst="rect">
            <a:avLst/>
          </a:prstGeom>
          <a:noFill/>
        </p:spPr>
        <p:txBody>
          <a:bodyPr wrap="square" lIns="0" rIns="0" tIns="0" bIns="0" anchor="t">
            <a:spAutoFit/>
          </a:bodyPr>
          <a:lstStyle/>
          <a:p>
            <a:pPr algn="ctr">
              <a:lnSpc>
                <a:spcPct val="110000"/>
              </a:lnSpc>
              <a:spcAft>
                <a:spcPts val="0"/>
              </a:spcAft>
            </a:pPr>
            <a:r>
              <a:rPr sz="2000" b="1">
                <a:solidFill>
                  <a:srgbClr val="EDEEF2"/>
                </a:solidFill>
                <a:latin typeface="Arial"/>
              </a:rPr>
              <a:t>15 %</a:t>
            </a:r>
          </a:p>
          <a:p>
            <a:pPr algn="ctr">
              <a:lnSpc>
                <a:spcPct val="110000"/>
              </a:lnSpc>
              <a:spcAft>
                <a:spcPts val="0"/>
              </a:spcAft>
            </a:pPr>
            <a:r>
              <a:rPr sz="1600" b="0">
                <a:solidFill>
                  <a:srgbClr val="9AA0B4"/>
                </a:solidFill>
                <a:latin typeface="Arial"/>
              </a:rPr>
              <a:t>pro-Arnland</a:t>
            </a:r>
          </a:p>
        </p:txBody>
      </p:sp>
      <p:sp>
        <p:nvSpPr>
          <p:cNvPr id="12" name="TextBox 11"/>
          <p:cNvSpPr txBox="1"/>
          <p:nvPr/>
        </p:nvSpPr>
        <p:spPr>
          <a:xfrm>
            <a:off x="6096000" y="4191000"/>
            <a:ext cx="5486400" cy="762000"/>
          </a:xfrm>
          <a:prstGeom prst="rect">
            <a:avLst/>
          </a:prstGeom>
          <a:noFill/>
        </p:spPr>
        <p:txBody>
          <a:bodyPr wrap="square" lIns="0" rIns="0" tIns="0" bIns="0" anchor="t">
            <a:spAutoFit/>
          </a:bodyPr>
          <a:lstStyle/>
          <a:p>
            <a:pPr algn="l">
              <a:lnSpc>
                <a:spcPct val="110000"/>
              </a:lnSpc>
              <a:spcAft>
                <a:spcPts val="0"/>
              </a:spcAft>
            </a:pPr>
            <a:r>
              <a:rPr sz="1800" b="0">
                <a:solidFill>
                  <a:srgbClr val="9AA0B4"/>
                </a:solidFill>
                <a:latin typeface="Arial"/>
              </a:rPr>
              <a:t>+ 3 avatars de test et 2 relais mercuriens</a:t>
            </a:r>
          </a:p>
        </p:txBody>
      </p:sp>
      <p:sp>
        <p:nvSpPr>
          <p:cNvPr id="13" name="TextBox 12"/>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9AA0B4"/>
                </a:solidFill>
                <a:latin typeface="Arial"/>
              </a:rPr>
              <a:t>PLÉIADE · Exercice · non classifié</a:t>
            </a:r>
          </a:p>
        </p:txBody>
      </p:sp>
      <p:sp>
        <p:nvSpPr>
          <p:cNvPr id="14" name="TextBox 13"/>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9AA0B4"/>
                </a:solidFill>
                <a:latin typeface="Arial"/>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Le programme tient la psychologie ; l'IA ne fait que lire et formuler</a:t>
            </a:r>
          </a:p>
        </p:txBody>
      </p:sp>
      <p:sp>
        <p:nvSpPr>
          <p:cNvPr id="3" name="Rectangle 2"/>
          <p:cNvSpPr/>
          <p:nvPr/>
        </p:nvSpPr>
        <p:spPr>
          <a:xfrm>
            <a:off x="609600" y="2286000"/>
            <a:ext cx="1905000" cy="1905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489200"/>
            <a:ext cx="1498600" cy="1651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L'IA lit</a:t>
            </a:r>
          </a:p>
          <a:p>
            <a:pPr algn="l">
              <a:lnSpc>
                <a:spcPct val="110000"/>
              </a:lnSpc>
              <a:spcAft>
                <a:spcPts val="0"/>
              </a:spcAft>
            </a:pPr>
            <a:r>
              <a:rPr sz="1800" b="0">
                <a:solidFill>
                  <a:srgbClr val="3B3E46"/>
                </a:solidFill>
                <a:latin typeface="Arial"/>
              </a:rPr>
              <a:t>le fil d'actualité</a:t>
            </a:r>
          </a:p>
        </p:txBody>
      </p:sp>
      <p:sp>
        <p:nvSpPr>
          <p:cNvPr id="5" name="Rectangle 4"/>
          <p:cNvSpPr/>
          <p:nvPr/>
        </p:nvSpPr>
        <p:spPr>
          <a:xfrm>
            <a:off x="3657600" y="2286000"/>
            <a:ext cx="4191000" cy="1905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60800" y="2489200"/>
            <a:ext cx="3784600" cy="1651000"/>
          </a:xfrm>
          <a:prstGeom prst="rect">
            <a:avLst/>
          </a:prstGeom>
          <a:noFill/>
        </p:spPr>
        <p:txBody>
          <a:bodyPr wrap="square" lIns="0" rIns="0" tIns="0" bIns="0" anchor="t">
            <a:spAutoFit/>
          </a:bodyPr>
          <a:lstStyle/>
          <a:p>
            <a:pPr algn="l">
              <a:lnSpc>
                <a:spcPct val="110000"/>
              </a:lnSpc>
              <a:spcAft>
                <a:spcPts val="0"/>
              </a:spcAft>
            </a:pPr>
            <a:r>
              <a:rPr sz="2400" b="1">
                <a:solidFill>
                  <a:srgbClr val="EDE3C8"/>
                </a:solidFill>
                <a:latin typeface="Arial"/>
              </a:rPr>
              <a:t>Le programme décide</a:t>
            </a:r>
          </a:p>
          <a:p>
            <a:pPr algn="l">
              <a:lnSpc>
                <a:spcPct val="110000"/>
              </a:lnSpc>
              <a:spcAft>
                <a:spcPts val="0"/>
              </a:spcAft>
            </a:pPr>
            <a:r>
              <a:rPr sz="1800" b="0">
                <a:solidFill>
                  <a:srgbClr val="C3C8D8"/>
                </a:solidFill>
                <a:latin typeface="Arial"/>
              </a:rPr>
              <a:t>humeur · mémoire · relations · opinions · qui réagit</a:t>
            </a:r>
          </a:p>
        </p:txBody>
      </p:sp>
      <p:sp>
        <p:nvSpPr>
          <p:cNvPr id="7" name="Rectangle 6"/>
          <p:cNvSpPr/>
          <p:nvPr/>
        </p:nvSpPr>
        <p:spPr>
          <a:xfrm>
            <a:off x="8483600" y="2286000"/>
            <a:ext cx="1905000" cy="1905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2489200"/>
            <a:ext cx="1498600" cy="1651000"/>
          </a:xfrm>
          <a:prstGeom prst="rect">
            <a:avLst/>
          </a:prstGeom>
          <a:noFill/>
        </p:spPr>
        <p:txBody>
          <a:bodyPr wrap="square" lIns="0" rIns="0" tIns="0" bIns="0" anchor="t">
            <a:spAutoFit/>
          </a:bodyPr>
          <a:lstStyle/>
          <a:p>
            <a:pPr algn="l">
              <a:lnSpc>
                <a:spcPct val="110000"/>
              </a:lnSpc>
              <a:spcAft>
                <a:spcPts val="0"/>
              </a:spcAft>
            </a:pPr>
            <a:r>
              <a:rPr sz="2400" b="1">
                <a:solidFill>
                  <a:srgbClr val="14140F"/>
                </a:solidFill>
                <a:latin typeface="Arial"/>
              </a:rPr>
              <a:t>L'IA formule</a:t>
            </a:r>
          </a:p>
          <a:p>
            <a:pPr algn="l">
              <a:lnSpc>
                <a:spcPct val="110000"/>
              </a:lnSpc>
              <a:spcAft>
                <a:spcPts val="0"/>
              </a:spcAft>
            </a:pPr>
            <a:r>
              <a:rPr sz="1800" b="0">
                <a:solidFill>
                  <a:srgbClr val="3B3E46"/>
                </a:solidFill>
                <a:latin typeface="Arial"/>
              </a:rPr>
              <a:t>dans la voix du personnage</a:t>
            </a:r>
          </a:p>
        </p:txBody>
      </p:sp>
      <p:sp>
        <p:nvSpPr>
          <p:cNvPr id="9" name="Right Arrow 8"/>
          <p:cNvSpPr/>
          <p:nvPr/>
        </p:nvSpPr>
        <p:spPr>
          <a:xfrm>
            <a:off x="2616200" y="3111500"/>
            <a:ext cx="939800" cy="2794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7950200" y="3111500"/>
            <a:ext cx="431800" cy="2794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66400" y="2286000"/>
            <a:ext cx="76200" cy="1905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2921000"/>
            <a:ext cx="1016000" cy="635000"/>
          </a:xfrm>
          <a:prstGeom prst="rect">
            <a:avLst/>
          </a:prstGeom>
          <a:noFill/>
        </p:spPr>
        <p:txBody>
          <a:bodyPr wrap="square" lIns="0" rIns="0" tIns="0" bIns="0" anchor="ctr">
            <a:spAutoFit/>
          </a:bodyPr>
          <a:lstStyle/>
          <a:p>
            <a:pPr algn="l">
              <a:lnSpc>
                <a:spcPct val="110000"/>
              </a:lnSpc>
              <a:spcAft>
                <a:spcPts val="0"/>
              </a:spcAft>
            </a:pPr>
            <a:r>
              <a:rPr sz="1800" b="1">
                <a:solidFill>
                  <a:srgbClr val="14140F"/>
                </a:solidFill>
                <a:latin typeface="Arial"/>
              </a:rPr>
              <a:t>Publié</a:t>
            </a:r>
          </a:p>
        </p:txBody>
      </p:sp>
      <p:sp>
        <p:nvSpPr>
          <p:cNvPr id="13" name="TextBox 12"/>
          <p:cNvSpPr txBox="1"/>
          <p:nvPr/>
        </p:nvSpPr>
        <p:spPr>
          <a:xfrm>
            <a:off x="8483600" y="4394200"/>
            <a:ext cx="3098800" cy="762000"/>
          </a:xfrm>
          <a:prstGeom prst="rect">
            <a:avLst/>
          </a:prstGeom>
          <a:noFill/>
        </p:spPr>
        <p:txBody>
          <a:bodyPr wrap="square" lIns="0" rIns="0" tIns="0" bIns="0" anchor="t">
            <a:spAutoFit/>
          </a:bodyPr>
          <a:lstStyle/>
          <a:p>
            <a:pPr algn="l">
              <a:lnSpc>
                <a:spcPct val="110000"/>
              </a:lnSpc>
              <a:spcAft>
                <a:spcPts val="0"/>
              </a:spcAft>
            </a:pPr>
            <a:r>
              <a:rPr sz="1600" b="0">
                <a:solidFill>
                  <a:srgbClr val="3B3E46"/>
                </a:solidFill>
                <a:latin typeface="Arial"/>
              </a:rPr>
              <a:t>Garde-fous avant publication : relecture, interdits, plafonds, interrupteur</a:t>
            </a:r>
          </a:p>
        </p:txBody>
      </p:sp>
      <p:sp>
        <p:nvSpPr>
          <p:cNvPr id="14" name="TextBox 13"/>
          <p:cNvSpPr txBox="1"/>
          <p:nvPr/>
        </p:nvSpPr>
        <p:spPr>
          <a:xfrm>
            <a:off x="609600" y="5334000"/>
            <a:ext cx="10972800" cy="381000"/>
          </a:xfrm>
          <a:prstGeom prst="rect">
            <a:avLst/>
          </a:prstGeom>
          <a:noFill/>
        </p:spPr>
        <p:txBody>
          <a:bodyPr wrap="square" lIns="0" rIns="0" tIns="0" bIns="0" anchor="t">
            <a:spAutoFit/>
          </a:bodyPr>
          <a:lstStyle/>
          <a:p>
            <a:pPr algn="l">
              <a:lnSpc>
                <a:spcPct val="110000"/>
              </a:lnSpc>
              <a:spcAft>
                <a:spcPts val="0"/>
              </a:spcAft>
            </a:pPr>
            <a:r>
              <a:rPr sz="1800" b="0">
                <a:solidFill>
                  <a:srgbClr val="3B3E46"/>
                </a:solidFill>
                <a:latin typeface="Arial"/>
              </a:rPr>
              <a:t>◐ En essai : rédacteur dédié et 36 nuances d'émotion</a:t>
            </a:r>
          </a:p>
        </p:txBody>
      </p:sp>
      <p:sp>
        <p:nvSpPr>
          <p:cNvPr id="15" name="TextBox 14"/>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16" name="TextBox 15"/>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Pour la première fois, on voit l'effet d'une action de joueur sur l'opinion</a:t>
            </a:r>
          </a:p>
        </p:txBody>
      </p:sp>
      <p:graphicFrame>
        <p:nvGraphicFramePr>
          <p:cNvPr id="3" name="Chart 2"/>
          <p:cNvGraphicFramePr>
            <a:graphicFrameLocks noGrp="1"/>
          </p:cNvGraphicFramePr>
          <p:nvPr/>
        </p:nvGraphicFramePr>
        <p:xfrm>
          <a:off x="609600" y="1905000"/>
          <a:ext cx="7112000" cy="3810000"/>
        </p:xfrm>
        <a:graphic>
          <a:graphicData uri="http://schemas.openxmlformats.org/drawingml/2006/chart">
            <c:chart xmlns:c="http://schemas.openxmlformats.org/drawingml/2006/chart" r:id="rId2"/>
          </a:graphicData>
        </a:graphic>
      </p:graphicFrame>
      <p:sp>
        <p:nvSpPr>
          <p:cNvPr id="4" name="TextBox 3"/>
          <p:cNvSpPr txBox="1"/>
          <p:nvPr/>
        </p:nvSpPr>
        <p:spPr>
          <a:xfrm>
            <a:off x="812800" y="1905000"/>
            <a:ext cx="5334000" cy="254000"/>
          </a:xfrm>
          <a:prstGeom prst="rect">
            <a:avLst/>
          </a:prstGeom>
          <a:noFill/>
        </p:spPr>
        <p:txBody>
          <a:bodyPr wrap="square" lIns="0" rIns="0" tIns="0" bIns="0" anchor="t">
            <a:spAutoFit/>
          </a:bodyPr>
          <a:lstStyle/>
          <a:p>
            <a:pPr algn="l">
              <a:lnSpc>
                <a:spcPct val="110000"/>
              </a:lnSpc>
              <a:spcAft>
                <a:spcPts val="0"/>
              </a:spcAft>
            </a:pPr>
            <a:r>
              <a:rPr sz="1400" b="1">
                <a:solidFill>
                  <a:srgbClr val="5B5F69"/>
                </a:solidFill>
                <a:latin typeface="Arial"/>
              </a:rPr>
              <a:t>ILLUSTRATION · données fictives</a:t>
            </a:r>
          </a:p>
        </p:txBody>
      </p:sp>
      <p:sp>
        <p:nvSpPr>
          <p:cNvPr id="5" name="Rectangle 4"/>
          <p:cNvSpPr/>
          <p:nvPr/>
        </p:nvSpPr>
        <p:spPr>
          <a:xfrm>
            <a:off x="3810000" y="3225800"/>
            <a:ext cx="25400" cy="2032000"/>
          </a:xfrm>
          <a:prstGeom prst="rect">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11600" y="4953000"/>
            <a:ext cx="2286000" cy="508000"/>
          </a:xfrm>
          <a:prstGeom prst="rect">
            <a:avLst/>
          </a:prstGeom>
          <a:noFill/>
        </p:spPr>
        <p:txBody>
          <a:bodyPr wrap="square" lIns="0" rIns="0" tIns="0" bIns="0" anchor="t">
            <a:spAutoFit/>
          </a:bodyPr>
          <a:lstStyle/>
          <a:p>
            <a:pPr algn="l">
              <a:lnSpc>
                <a:spcPct val="110000"/>
              </a:lnSpc>
              <a:spcAft>
                <a:spcPts val="0"/>
              </a:spcAft>
            </a:pPr>
            <a:r>
              <a:rPr sz="1600" b="0">
                <a:solidFill>
                  <a:srgbClr val="3B3E46"/>
                </a:solidFill>
                <a:latin typeface="Arial"/>
              </a:rPr>
              <a:t>message des joueurs</a:t>
            </a:r>
          </a:p>
        </p:txBody>
      </p:sp>
      <p:sp>
        <p:nvSpPr>
          <p:cNvPr id="7" name="TextBox 6"/>
          <p:cNvSpPr txBox="1"/>
          <p:nvPr/>
        </p:nvSpPr>
        <p:spPr>
          <a:xfrm>
            <a:off x="8128000" y="1905000"/>
            <a:ext cx="3454400" cy="355600"/>
          </a:xfrm>
          <a:prstGeom prst="rect">
            <a:avLst/>
          </a:prstGeom>
          <a:noFill/>
        </p:spPr>
        <p:txBody>
          <a:bodyPr wrap="square" lIns="0" rIns="0" tIns="0" bIns="0" anchor="t">
            <a:spAutoFit/>
          </a:bodyPr>
          <a:lstStyle/>
          <a:p>
            <a:pPr algn="l">
              <a:lnSpc>
                <a:spcPct val="110000"/>
              </a:lnSpc>
              <a:spcAft>
                <a:spcPts val="0"/>
              </a:spcAft>
            </a:pPr>
            <a:r>
              <a:rPr sz="2000" b="1">
                <a:solidFill>
                  <a:srgbClr val="14140F"/>
                </a:solidFill>
                <a:latin typeface="Arial"/>
              </a:rPr>
              <a:t>Le COCKPIT suit</a:t>
            </a:r>
          </a:p>
        </p:txBody>
      </p:sp>
      <p:sp>
        <p:nvSpPr>
          <p:cNvPr id="8" name="Rectangle 7"/>
          <p:cNvSpPr/>
          <p:nvPr/>
        </p:nvSpPr>
        <p:spPr>
          <a:xfrm>
            <a:off x="8128000" y="25654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07400" y="2463800"/>
            <a:ext cx="3175000" cy="7112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l'activité par série de comptes</a:t>
            </a:r>
          </a:p>
        </p:txBody>
      </p:sp>
      <p:sp>
        <p:nvSpPr>
          <p:cNvPr id="10" name="Rectangle 9"/>
          <p:cNvSpPr/>
          <p:nvPr/>
        </p:nvSpPr>
        <p:spPr>
          <a:xfrm>
            <a:off x="8128000" y="33274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07400" y="3225800"/>
            <a:ext cx="3175000" cy="7112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les hashtags repris</a:t>
            </a:r>
          </a:p>
        </p:txBody>
      </p:sp>
      <p:sp>
        <p:nvSpPr>
          <p:cNvPr id="12" name="Rectangle 11"/>
          <p:cNvSpPr/>
          <p:nvPr/>
        </p:nvSpPr>
        <p:spPr>
          <a:xfrm>
            <a:off x="8128000" y="40894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07400" y="3987800"/>
            <a:ext cx="3175000" cy="7112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l'opinion sur chaque axe</a:t>
            </a:r>
          </a:p>
        </p:txBody>
      </p:sp>
      <p:sp>
        <p:nvSpPr>
          <p:cNvPr id="14" name="Rectangle 13"/>
          <p:cNvSpPr/>
          <p:nvPr/>
        </p:nvSpPr>
        <p:spPr>
          <a:xfrm>
            <a:off x="8128000" y="48514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7400" y="4749800"/>
            <a:ext cx="3175000" cy="7112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qui la fait bouger : joueurs, IA ou faits</a:t>
            </a:r>
          </a:p>
        </p:txBody>
      </p:sp>
      <p:sp>
        <p:nvSpPr>
          <p:cNvPr id="16" name="TextBox 15"/>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17" name="TextBox 16"/>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0E7"/>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14140F"/>
                </a:solidFill>
                <a:latin typeface="Arial"/>
              </a:rPr>
              <a:t>Fermé, local, réparti : rien ne sort de la salle</a:t>
            </a:r>
          </a:p>
        </p:txBody>
      </p:sp>
      <p:sp>
        <p:nvSpPr>
          <p:cNvPr id="3" name="Rectangle 2"/>
          <p:cNvSpPr/>
          <p:nvPr/>
        </p:nvSpPr>
        <p:spPr>
          <a:xfrm>
            <a:off x="609600" y="2159000"/>
            <a:ext cx="3048000" cy="1651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362200"/>
            <a:ext cx="2641600" cy="1397000"/>
          </a:xfrm>
          <a:prstGeom prst="rect">
            <a:avLst/>
          </a:prstGeom>
          <a:noFill/>
        </p:spPr>
        <p:txBody>
          <a:bodyPr wrap="square" lIns="0" rIns="0" tIns="0" bIns="0" anchor="t">
            <a:spAutoFit/>
          </a:bodyPr>
          <a:lstStyle/>
          <a:p>
            <a:pPr algn="l">
              <a:lnSpc>
                <a:spcPct val="110000"/>
              </a:lnSpc>
              <a:spcAft>
                <a:spcPts val="0"/>
              </a:spcAft>
            </a:pPr>
            <a:r>
              <a:rPr sz="2200" b="1">
                <a:solidFill>
                  <a:srgbClr val="14140F"/>
                </a:solidFill>
                <a:latin typeface="Arial"/>
              </a:rPr>
              <a:t>Joueurs et animation</a:t>
            </a:r>
          </a:p>
          <a:p>
            <a:pPr algn="l">
              <a:lnSpc>
                <a:spcPct val="110000"/>
              </a:lnSpc>
              <a:spcAft>
                <a:spcPts val="0"/>
              </a:spcAft>
            </a:pPr>
            <a:r>
              <a:rPr sz="1800" b="0">
                <a:solidFill>
                  <a:srgbClr val="3B3E46"/>
                </a:solidFill>
                <a:latin typeface="Arial"/>
              </a:rPr>
              <a:t>profil VPN nominatif</a:t>
            </a:r>
          </a:p>
        </p:txBody>
      </p:sp>
      <p:sp>
        <p:nvSpPr>
          <p:cNvPr id="5" name="Rectangle 4"/>
          <p:cNvSpPr/>
          <p:nvPr/>
        </p:nvSpPr>
        <p:spPr>
          <a:xfrm>
            <a:off x="4572000" y="2159000"/>
            <a:ext cx="3048000" cy="1651000"/>
          </a:xfrm>
          <a:prstGeom prst="rect">
            <a:avLst/>
          </a:prstGeom>
          <a:solidFill>
            <a:srgbClr val="1B1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75200" y="2362200"/>
            <a:ext cx="2641600" cy="1397000"/>
          </a:xfrm>
          <a:prstGeom prst="rect">
            <a:avLst/>
          </a:prstGeom>
          <a:noFill/>
        </p:spPr>
        <p:txBody>
          <a:bodyPr wrap="square" lIns="0" rIns="0" tIns="0" bIns="0" anchor="t">
            <a:spAutoFit/>
          </a:bodyPr>
          <a:lstStyle/>
          <a:p>
            <a:pPr algn="l">
              <a:lnSpc>
                <a:spcPct val="110000"/>
              </a:lnSpc>
              <a:spcAft>
                <a:spcPts val="0"/>
              </a:spcAft>
            </a:pPr>
            <a:r>
              <a:rPr sz="2200" b="1">
                <a:solidFill>
                  <a:srgbClr val="EDE3C8"/>
                </a:solidFill>
                <a:latin typeface="Arial"/>
              </a:rPr>
              <a:t>Serveur du CECPC</a:t>
            </a:r>
          </a:p>
          <a:p>
            <a:pPr algn="l">
              <a:lnSpc>
                <a:spcPct val="110000"/>
              </a:lnSpc>
              <a:spcAft>
                <a:spcPts val="0"/>
              </a:spcAft>
            </a:pPr>
            <a:r>
              <a:rPr sz="1800" b="0">
                <a:solidFill>
                  <a:srgbClr val="C3C8D8"/>
                </a:solidFill>
                <a:latin typeface="Arial"/>
              </a:rPr>
              <a:t>les zones d'exercice</a:t>
            </a:r>
          </a:p>
        </p:txBody>
      </p:sp>
      <p:sp>
        <p:nvSpPr>
          <p:cNvPr id="7" name="Rectangle 6"/>
          <p:cNvSpPr/>
          <p:nvPr/>
        </p:nvSpPr>
        <p:spPr>
          <a:xfrm>
            <a:off x="8534400" y="2159000"/>
            <a:ext cx="3048000" cy="1651000"/>
          </a:xfrm>
          <a:prstGeom prst="rect">
            <a:avLst/>
          </a:prstGeom>
          <a:solidFill>
            <a:srgbClr val="FFFFFF"/>
          </a:solidFill>
          <a:ln w="12700">
            <a:solidFill>
              <a:srgbClr val="C9C3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7600" y="2362200"/>
            <a:ext cx="2641600" cy="1397000"/>
          </a:xfrm>
          <a:prstGeom prst="rect">
            <a:avLst/>
          </a:prstGeom>
          <a:noFill/>
        </p:spPr>
        <p:txBody>
          <a:bodyPr wrap="square" lIns="0" rIns="0" tIns="0" bIns="0" anchor="t">
            <a:spAutoFit/>
          </a:bodyPr>
          <a:lstStyle/>
          <a:p>
            <a:pPr algn="l">
              <a:lnSpc>
                <a:spcPct val="110000"/>
              </a:lnSpc>
              <a:spcAft>
                <a:spcPts val="0"/>
              </a:spcAft>
            </a:pPr>
            <a:r>
              <a:rPr sz="2200" b="1">
                <a:solidFill>
                  <a:srgbClr val="14140F"/>
                </a:solidFill>
                <a:latin typeface="Arial"/>
              </a:rPr>
              <a:t>Nœuds de calcul IA</a:t>
            </a:r>
          </a:p>
          <a:p>
            <a:pPr algn="l">
              <a:lnSpc>
                <a:spcPct val="110000"/>
              </a:lnSpc>
              <a:spcAft>
                <a:spcPts val="0"/>
              </a:spcAft>
            </a:pPr>
            <a:r>
              <a:rPr sz="1800" b="0">
                <a:solidFill>
                  <a:srgbClr val="3B3E46"/>
                </a:solidFill>
                <a:latin typeface="Arial"/>
              </a:rPr>
              <a:t>PC et Mac de l'équipe</a:t>
            </a:r>
          </a:p>
        </p:txBody>
      </p:sp>
      <p:sp>
        <p:nvSpPr>
          <p:cNvPr id="9" name="Right Arrow 8"/>
          <p:cNvSpPr/>
          <p:nvPr/>
        </p:nvSpPr>
        <p:spPr>
          <a:xfrm>
            <a:off x="3835400" y="2844800"/>
            <a:ext cx="558800" cy="2794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3225800"/>
            <a:ext cx="914400" cy="254000"/>
          </a:xfrm>
          <a:prstGeom prst="rect">
            <a:avLst/>
          </a:prstGeom>
          <a:noFill/>
        </p:spPr>
        <p:txBody>
          <a:bodyPr wrap="square" lIns="0" rIns="0" tIns="0" bIns="0" anchor="t">
            <a:spAutoFit/>
          </a:bodyPr>
          <a:lstStyle/>
          <a:p>
            <a:pPr algn="ctr">
              <a:lnSpc>
                <a:spcPct val="110000"/>
              </a:lnSpc>
              <a:spcAft>
                <a:spcPts val="0"/>
              </a:spcAft>
            </a:pPr>
            <a:r>
              <a:rPr sz="1400" b="1">
                <a:solidFill>
                  <a:srgbClr val="3B3E46"/>
                </a:solidFill>
                <a:latin typeface="Arial"/>
              </a:rPr>
              <a:t>VPN</a:t>
            </a:r>
          </a:p>
        </p:txBody>
      </p:sp>
      <p:sp>
        <p:nvSpPr>
          <p:cNvPr id="11" name="Right Arrow 10"/>
          <p:cNvSpPr/>
          <p:nvPr/>
        </p:nvSpPr>
        <p:spPr>
          <a:xfrm>
            <a:off x="7797800" y="2844800"/>
            <a:ext cx="558800" cy="279400"/>
          </a:xfrm>
          <a:prstGeom prst="rightArrow">
            <a:avLst/>
          </a:prstGeom>
          <a:solidFill>
            <a:srgbClr val="3B3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0" y="3225800"/>
            <a:ext cx="914400" cy="254000"/>
          </a:xfrm>
          <a:prstGeom prst="rect">
            <a:avLst/>
          </a:prstGeom>
          <a:noFill/>
        </p:spPr>
        <p:txBody>
          <a:bodyPr wrap="square" lIns="0" rIns="0" tIns="0" bIns="0" anchor="t">
            <a:spAutoFit/>
          </a:bodyPr>
          <a:lstStyle/>
          <a:p>
            <a:pPr algn="ctr">
              <a:lnSpc>
                <a:spcPct val="110000"/>
              </a:lnSpc>
              <a:spcAft>
                <a:spcPts val="0"/>
              </a:spcAft>
            </a:pPr>
            <a:r>
              <a:rPr sz="1400" b="1">
                <a:solidFill>
                  <a:srgbClr val="3B3E46"/>
                </a:solidFill>
                <a:latin typeface="Arial"/>
              </a:rPr>
              <a:t>VPN</a:t>
            </a:r>
          </a:p>
        </p:txBody>
      </p:sp>
      <p:sp>
        <p:nvSpPr>
          <p:cNvPr id="13" name="Rectangle 12"/>
          <p:cNvSpPr/>
          <p:nvPr/>
        </p:nvSpPr>
        <p:spPr>
          <a:xfrm>
            <a:off x="609600" y="43053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 y="4191000"/>
            <a:ext cx="10693400" cy="5080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IA locale, sous licence libre (Gemma 4) : aucun service en ligne</a:t>
            </a:r>
          </a:p>
        </p:txBody>
      </p:sp>
      <p:sp>
        <p:nvSpPr>
          <p:cNvPr id="15" name="Rectangle 14"/>
          <p:cNvSpPr/>
          <p:nvPr/>
        </p:nvSpPr>
        <p:spPr>
          <a:xfrm>
            <a:off x="609600" y="48895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000" y="4775200"/>
            <a:ext cx="10693400" cy="5080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Une machine s'arrête : ses avatars sont repris par une autre</a:t>
            </a:r>
          </a:p>
        </p:txBody>
      </p:sp>
      <p:sp>
        <p:nvSpPr>
          <p:cNvPr id="17" name="Rectangle 16"/>
          <p:cNvSpPr/>
          <p:nvPr/>
        </p:nvSpPr>
        <p:spPr>
          <a:xfrm>
            <a:off x="609600" y="5473700"/>
            <a:ext cx="127000" cy="127000"/>
          </a:xfrm>
          <a:prstGeom prst="rect">
            <a:avLst/>
          </a:prstGeom>
          <a:solidFill>
            <a:srgbClr val="141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000" y="5359400"/>
            <a:ext cx="10693400" cy="508000"/>
          </a:xfrm>
          <a:prstGeom prst="rect">
            <a:avLst/>
          </a:prstGeom>
          <a:noFill/>
        </p:spPr>
        <p:txBody>
          <a:bodyPr wrap="square" lIns="0" rIns="0" tIns="0" bIns="0" anchor="t">
            <a:spAutoFit/>
          </a:bodyPr>
          <a:lstStyle/>
          <a:p>
            <a:pPr algn="l">
              <a:lnSpc>
                <a:spcPct val="110000"/>
              </a:lnSpc>
              <a:spcAft>
                <a:spcPts val="0"/>
              </a:spcAft>
            </a:pPr>
            <a:r>
              <a:rPr sz="2000" b="0">
                <a:solidFill>
                  <a:srgbClr val="1C1E21"/>
                </a:solidFill>
                <a:latin typeface="Arial"/>
              </a:rPr>
              <a:t>Être sur le VPN ne donne aucun droit : chaque application vérifie les siens</a:t>
            </a:r>
          </a:p>
        </p:txBody>
      </p:sp>
      <p:sp>
        <p:nvSpPr>
          <p:cNvPr id="19" name="TextBox 18"/>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5B5F69"/>
                </a:solidFill>
                <a:latin typeface="Arial"/>
              </a:rPr>
              <a:t>PLÉIADE · Exercice · non classifié</a:t>
            </a:r>
          </a:p>
        </p:txBody>
      </p:sp>
      <p:sp>
        <p:nvSpPr>
          <p:cNvPr id="20" name="TextBox 19"/>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5B5F69"/>
                </a:solidFill>
                <a:latin typeface="Arial"/>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1719"/>
        </a:solidFill>
        <a:effectLst/>
      </p:bgPr>
    </p:bg>
    <p:spTree>
      <p:nvGrpSpPr>
        <p:cNvPr id="1" name=""/>
        <p:cNvGrpSpPr/>
        <p:nvPr/>
      </p:nvGrpSpPr>
      <p:grpSpPr/>
      <p:sp>
        <p:nvSpPr>
          <p:cNvPr id="2" name="Titre"/>
          <p:cNvSpPr txBox="1"/>
          <p:nvPr/>
        </p:nvSpPr>
        <p:spPr>
          <a:xfrm>
            <a:off x="609600" y="508000"/>
            <a:ext cx="10972800" cy="1016000"/>
          </a:xfrm>
          <a:prstGeom prst="rect">
            <a:avLst/>
          </a:prstGeom>
          <a:noFill/>
        </p:spPr>
        <p:txBody>
          <a:bodyPr wrap="square" lIns="0" rIns="0" tIns="0" bIns="0" anchor="t">
            <a:spAutoFit/>
          </a:bodyPr>
          <a:lstStyle/>
          <a:p>
            <a:pPr algn="l">
              <a:lnSpc>
                <a:spcPct val="105000"/>
              </a:lnSpc>
              <a:spcAft>
                <a:spcPts val="0"/>
              </a:spcAft>
            </a:pPr>
            <a:r>
              <a:rPr sz="3200" b="1">
                <a:solidFill>
                  <a:srgbClr val="EDEEF2"/>
                </a:solidFill>
                <a:latin typeface="Arial"/>
              </a:rPr>
              <a:t>Ce que PLÉIADE permet</a:t>
            </a:r>
          </a:p>
        </p:txBody>
      </p:sp>
      <p:sp>
        <p:nvSpPr>
          <p:cNvPr id="3" name="TextBox 2"/>
          <p:cNvSpPr txBox="1"/>
          <p:nvPr/>
        </p:nvSpPr>
        <p:spPr>
          <a:xfrm>
            <a:off x="609600" y="1905000"/>
            <a:ext cx="2540000" cy="635000"/>
          </a:xfrm>
          <a:prstGeom prst="rect">
            <a:avLst/>
          </a:prstGeom>
          <a:noFill/>
        </p:spPr>
        <p:txBody>
          <a:bodyPr wrap="square" lIns="0" rIns="0" tIns="0" bIns="0" anchor="t">
            <a:spAutoFit/>
          </a:bodyPr>
          <a:lstStyle/>
          <a:p>
            <a:pPr algn="l">
              <a:lnSpc>
                <a:spcPct val="110000"/>
              </a:lnSpc>
              <a:spcAft>
                <a:spcPts val="0"/>
              </a:spcAft>
            </a:pPr>
            <a:r>
              <a:rPr sz="2800" b="1">
                <a:solidFill>
                  <a:srgbClr val="EDE3C8"/>
                </a:solidFill>
                <a:latin typeface="Arial"/>
              </a:rPr>
              <a:t>Entraîner</a:t>
            </a:r>
          </a:p>
        </p:txBody>
      </p:sp>
      <p:sp>
        <p:nvSpPr>
          <p:cNvPr id="4" name="TextBox 3"/>
          <p:cNvSpPr txBox="1"/>
          <p:nvPr/>
        </p:nvSpPr>
        <p:spPr>
          <a:xfrm>
            <a:off x="3175000" y="1955800"/>
            <a:ext cx="4826000" cy="635000"/>
          </a:xfrm>
          <a:prstGeom prst="rect">
            <a:avLst/>
          </a:prstGeom>
          <a:noFill/>
        </p:spPr>
        <p:txBody>
          <a:bodyPr wrap="square" lIns="0" rIns="0" tIns="0" bIns="0" anchor="t">
            <a:spAutoFit/>
          </a:bodyPr>
          <a:lstStyle/>
          <a:p>
            <a:pPr algn="l">
              <a:lnSpc>
                <a:spcPct val="110000"/>
              </a:lnSpc>
              <a:spcAft>
                <a:spcPts val="0"/>
              </a:spcAft>
            </a:pPr>
            <a:r>
              <a:rPr sz="2000" b="0">
                <a:solidFill>
                  <a:srgbClr val="EDEEF2"/>
                </a:solidFill>
                <a:latin typeface="Arial"/>
              </a:rPr>
              <a:t>un état-major à la lutte informationnelle</a:t>
            </a:r>
          </a:p>
        </p:txBody>
      </p:sp>
      <p:sp>
        <p:nvSpPr>
          <p:cNvPr id="5" name="TextBox 4"/>
          <p:cNvSpPr txBox="1"/>
          <p:nvPr/>
        </p:nvSpPr>
        <p:spPr>
          <a:xfrm>
            <a:off x="609600" y="2641600"/>
            <a:ext cx="2540000" cy="635000"/>
          </a:xfrm>
          <a:prstGeom prst="rect">
            <a:avLst/>
          </a:prstGeom>
          <a:noFill/>
        </p:spPr>
        <p:txBody>
          <a:bodyPr wrap="square" lIns="0" rIns="0" tIns="0" bIns="0" anchor="t">
            <a:spAutoFit/>
          </a:bodyPr>
          <a:lstStyle/>
          <a:p>
            <a:pPr algn="l">
              <a:lnSpc>
                <a:spcPct val="110000"/>
              </a:lnSpc>
              <a:spcAft>
                <a:spcPts val="0"/>
              </a:spcAft>
            </a:pPr>
            <a:r>
              <a:rPr sz="2800" b="1">
                <a:solidFill>
                  <a:srgbClr val="EDE3C8"/>
                </a:solidFill>
                <a:latin typeface="Arial"/>
              </a:rPr>
              <a:t>Monter</a:t>
            </a:r>
          </a:p>
        </p:txBody>
      </p:sp>
      <p:sp>
        <p:nvSpPr>
          <p:cNvPr id="6" name="TextBox 5"/>
          <p:cNvSpPr txBox="1"/>
          <p:nvPr/>
        </p:nvSpPr>
        <p:spPr>
          <a:xfrm>
            <a:off x="3175000" y="2692400"/>
            <a:ext cx="4826000" cy="635000"/>
          </a:xfrm>
          <a:prstGeom prst="rect">
            <a:avLst/>
          </a:prstGeom>
          <a:noFill/>
        </p:spPr>
        <p:txBody>
          <a:bodyPr wrap="square" lIns="0" rIns="0" tIns="0" bIns="0" anchor="t">
            <a:spAutoFit/>
          </a:bodyPr>
          <a:lstStyle/>
          <a:p>
            <a:pPr algn="l">
              <a:lnSpc>
                <a:spcPct val="110000"/>
              </a:lnSpc>
              <a:spcAft>
                <a:spcPts val="0"/>
              </a:spcAft>
            </a:pPr>
            <a:r>
              <a:rPr sz="2000" b="0">
                <a:solidFill>
                  <a:srgbClr val="EDEEF2"/>
                </a:solidFill>
                <a:latin typeface="Arial"/>
              </a:rPr>
              <a:t>un exercice vite, et tout réutiliser</a:t>
            </a:r>
          </a:p>
        </p:txBody>
      </p:sp>
      <p:sp>
        <p:nvSpPr>
          <p:cNvPr id="7" name="TextBox 6"/>
          <p:cNvSpPr txBox="1"/>
          <p:nvPr/>
        </p:nvSpPr>
        <p:spPr>
          <a:xfrm>
            <a:off x="609600" y="3378200"/>
            <a:ext cx="2540000" cy="635000"/>
          </a:xfrm>
          <a:prstGeom prst="rect">
            <a:avLst/>
          </a:prstGeom>
          <a:noFill/>
        </p:spPr>
        <p:txBody>
          <a:bodyPr wrap="square" lIns="0" rIns="0" tIns="0" bIns="0" anchor="t">
            <a:spAutoFit/>
          </a:bodyPr>
          <a:lstStyle/>
          <a:p>
            <a:pPr algn="l">
              <a:lnSpc>
                <a:spcPct val="110000"/>
              </a:lnSpc>
              <a:spcAft>
                <a:spcPts val="0"/>
              </a:spcAft>
            </a:pPr>
            <a:r>
              <a:rPr sz="2800" b="1">
                <a:solidFill>
                  <a:srgbClr val="EDE3C8"/>
                </a:solidFill>
                <a:latin typeface="Arial"/>
              </a:rPr>
              <a:t>Faire vivre</a:t>
            </a:r>
          </a:p>
        </p:txBody>
      </p:sp>
      <p:sp>
        <p:nvSpPr>
          <p:cNvPr id="8" name="TextBox 7"/>
          <p:cNvSpPr txBox="1"/>
          <p:nvPr/>
        </p:nvSpPr>
        <p:spPr>
          <a:xfrm>
            <a:off x="3175000" y="3429000"/>
            <a:ext cx="4826000" cy="635000"/>
          </a:xfrm>
          <a:prstGeom prst="rect">
            <a:avLst/>
          </a:prstGeom>
          <a:noFill/>
        </p:spPr>
        <p:txBody>
          <a:bodyPr wrap="square" lIns="0" rIns="0" tIns="0" bIns="0" anchor="t">
            <a:spAutoFit/>
          </a:bodyPr>
          <a:lstStyle/>
          <a:p>
            <a:pPr algn="l">
              <a:lnSpc>
                <a:spcPct val="110000"/>
              </a:lnSpc>
              <a:spcAft>
                <a:spcPts val="0"/>
              </a:spcAft>
            </a:pPr>
            <a:r>
              <a:rPr sz="2000" b="0">
                <a:solidFill>
                  <a:srgbClr val="EDEEF2"/>
                </a:solidFill>
                <a:latin typeface="Arial"/>
              </a:rPr>
              <a:t>l'espace avec une population simulée</a:t>
            </a:r>
          </a:p>
        </p:txBody>
      </p:sp>
      <p:sp>
        <p:nvSpPr>
          <p:cNvPr id="9" name="TextBox 8"/>
          <p:cNvSpPr txBox="1"/>
          <p:nvPr/>
        </p:nvSpPr>
        <p:spPr>
          <a:xfrm>
            <a:off x="609600" y="4114800"/>
            <a:ext cx="2540000" cy="635000"/>
          </a:xfrm>
          <a:prstGeom prst="rect">
            <a:avLst/>
          </a:prstGeom>
          <a:noFill/>
        </p:spPr>
        <p:txBody>
          <a:bodyPr wrap="square" lIns="0" rIns="0" tIns="0" bIns="0" anchor="t">
            <a:spAutoFit/>
          </a:bodyPr>
          <a:lstStyle/>
          <a:p>
            <a:pPr algn="l">
              <a:lnSpc>
                <a:spcPct val="110000"/>
              </a:lnSpc>
              <a:spcAft>
                <a:spcPts val="0"/>
              </a:spcAft>
            </a:pPr>
            <a:r>
              <a:rPr sz="2800" b="1">
                <a:solidFill>
                  <a:srgbClr val="EDE3C8"/>
                </a:solidFill>
                <a:latin typeface="Arial"/>
              </a:rPr>
              <a:t>Mesurer</a:t>
            </a:r>
          </a:p>
        </p:txBody>
      </p:sp>
      <p:sp>
        <p:nvSpPr>
          <p:cNvPr id="10" name="TextBox 9"/>
          <p:cNvSpPr txBox="1"/>
          <p:nvPr/>
        </p:nvSpPr>
        <p:spPr>
          <a:xfrm>
            <a:off x="3175000" y="4165600"/>
            <a:ext cx="4826000" cy="635000"/>
          </a:xfrm>
          <a:prstGeom prst="rect">
            <a:avLst/>
          </a:prstGeom>
          <a:noFill/>
        </p:spPr>
        <p:txBody>
          <a:bodyPr wrap="square" lIns="0" rIns="0" tIns="0" bIns="0" anchor="t">
            <a:spAutoFit/>
          </a:bodyPr>
          <a:lstStyle/>
          <a:p>
            <a:pPr algn="l">
              <a:lnSpc>
                <a:spcPct val="110000"/>
              </a:lnSpc>
              <a:spcAft>
                <a:spcPts val="0"/>
              </a:spcAft>
            </a:pPr>
            <a:r>
              <a:rPr sz="2000" b="0">
                <a:solidFill>
                  <a:srgbClr val="EDEEF2"/>
                </a:solidFill>
                <a:latin typeface="Arial"/>
              </a:rPr>
              <a:t>l'effet des joueurs sur l'opinion</a:t>
            </a:r>
          </a:p>
        </p:txBody>
      </p:sp>
      <p:sp>
        <p:nvSpPr>
          <p:cNvPr id="11" name="Rectangle 10"/>
          <p:cNvSpPr/>
          <p:nvPr/>
        </p:nvSpPr>
        <p:spPr>
          <a:xfrm>
            <a:off x="8382000" y="1905000"/>
            <a:ext cx="3200400" cy="3302000"/>
          </a:xfrm>
          <a:prstGeom prst="rect">
            <a:avLst/>
          </a:prstGeom>
          <a:noFill/>
          <a:ln w="12700">
            <a:solidFill>
              <a:srgbClr val="3A3D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0" y="2108200"/>
            <a:ext cx="2794000" cy="3048000"/>
          </a:xfrm>
          <a:prstGeom prst="rect">
            <a:avLst/>
          </a:prstGeom>
          <a:noFill/>
        </p:spPr>
        <p:txBody>
          <a:bodyPr wrap="square" lIns="0" rIns="0" tIns="0" bIns="0" anchor="t">
            <a:spAutoFit/>
          </a:bodyPr>
          <a:lstStyle/>
          <a:p>
            <a:pPr algn="l">
              <a:lnSpc>
                <a:spcPct val="110000"/>
              </a:lnSpc>
              <a:spcAft>
                <a:spcPts val="1000"/>
              </a:spcAft>
            </a:pPr>
            <a:r>
              <a:rPr sz="2000" b="1">
                <a:solidFill>
                  <a:srgbClr val="EDEEF2"/>
                </a:solidFill>
                <a:latin typeface="Arial"/>
              </a:rPr>
              <a:t>La suite</a:t>
            </a:r>
          </a:p>
          <a:p>
            <a:pPr algn="l">
              <a:lnSpc>
                <a:spcPct val="110000"/>
              </a:lnSpc>
              <a:spcAft>
                <a:spcPts val="1000"/>
              </a:spcAft>
            </a:pPr>
            <a:r>
              <a:rPr sz="1800" b="0">
                <a:solidFill>
                  <a:srgbClr val="C3C8D8"/>
                </a:solidFill>
                <a:latin typeface="Arial"/>
              </a:rPr>
              <a:t>◐ en essai : rédacteur, émotions</a:t>
            </a:r>
          </a:p>
          <a:p>
            <a:pPr algn="l">
              <a:lnSpc>
                <a:spcPct val="110000"/>
              </a:lnSpc>
              <a:spcAft>
                <a:spcPts val="1000"/>
              </a:spcAft>
            </a:pPr>
            <a:r>
              <a:rPr sz="1800" b="0">
                <a:solidFill>
                  <a:srgbClr val="C3C8D8"/>
                </a:solidFill>
                <a:latin typeface="Arial"/>
              </a:rPr>
              <a:t>○ à l'étude : lecture des images</a:t>
            </a:r>
          </a:p>
          <a:p>
            <a:pPr algn="l">
              <a:lnSpc>
                <a:spcPct val="110000"/>
              </a:lnSpc>
              <a:spcAft>
                <a:spcPts val="1000"/>
              </a:spcAft>
            </a:pPr>
            <a:r>
              <a:rPr sz="1800" b="0">
                <a:solidFill>
                  <a:srgbClr val="C3C8D8"/>
                </a:solidFill>
                <a:latin typeface="Arial"/>
              </a:rPr>
              <a:t>○ ensuite : plus d'avatars, plus de machines</a:t>
            </a:r>
          </a:p>
        </p:txBody>
      </p:sp>
      <p:sp>
        <p:nvSpPr>
          <p:cNvPr id="13" name="Oval 12"/>
          <p:cNvSpPr/>
          <p:nvPr/>
        </p:nvSpPr>
        <p:spPr>
          <a:xfrm>
            <a:off x="10414000" y="5816600"/>
            <a:ext cx="68580" cy="6858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673080" y="5588000"/>
            <a:ext cx="53340" cy="5334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810240" y="5847080"/>
            <a:ext cx="91439" cy="91439"/>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84560" y="5740400"/>
            <a:ext cx="60960" cy="6096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176000" y="6029960"/>
            <a:ext cx="68580" cy="6858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886440" y="6121400"/>
            <a:ext cx="53340" cy="53340"/>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96880" y="6075680"/>
            <a:ext cx="45719" cy="45719"/>
          </a:xfrm>
          <a:prstGeom prst="ellipse">
            <a:avLst/>
          </a:prstGeom>
          <a:solidFill>
            <a:srgbClr val="EDE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600" y="6477000"/>
            <a:ext cx="7620000" cy="203200"/>
          </a:xfrm>
          <a:prstGeom prst="rect">
            <a:avLst/>
          </a:prstGeom>
          <a:noFill/>
        </p:spPr>
        <p:txBody>
          <a:bodyPr wrap="square" lIns="0" rIns="0" tIns="0" bIns="0" anchor="t">
            <a:spAutoFit/>
          </a:bodyPr>
          <a:lstStyle/>
          <a:p>
            <a:pPr algn="l">
              <a:lnSpc>
                <a:spcPct val="110000"/>
              </a:lnSpc>
              <a:spcAft>
                <a:spcPts val="0"/>
              </a:spcAft>
            </a:pPr>
            <a:r>
              <a:rPr sz="1200" b="0">
                <a:solidFill>
                  <a:srgbClr val="9AA0B4"/>
                </a:solidFill>
                <a:latin typeface="Arial"/>
              </a:rPr>
              <a:t>PLÉIADE · Exercice · non classifié</a:t>
            </a:r>
          </a:p>
        </p:txBody>
      </p:sp>
      <p:sp>
        <p:nvSpPr>
          <p:cNvPr id="21" name="TextBox 20"/>
          <p:cNvSpPr txBox="1"/>
          <p:nvPr/>
        </p:nvSpPr>
        <p:spPr>
          <a:xfrm>
            <a:off x="10312400" y="6477000"/>
            <a:ext cx="1270000" cy="203200"/>
          </a:xfrm>
          <a:prstGeom prst="rect">
            <a:avLst/>
          </a:prstGeom>
          <a:noFill/>
        </p:spPr>
        <p:txBody>
          <a:bodyPr wrap="square" lIns="0" rIns="0" tIns="0" bIns="0" anchor="t">
            <a:spAutoFit/>
          </a:bodyPr>
          <a:lstStyle/>
          <a:p>
            <a:pPr algn="r">
              <a:lnSpc>
                <a:spcPct val="110000"/>
              </a:lnSpc>
              <a:spcAft>
                <a:spcPts val="0"/>
              </a:spcAft>
            </a:pPr>
            <a:r>
              <a:rPr sz="1200" b="0">
                <a:solidFill>
                  <a:srgbClr val="9AA0B4"/>
                </a:solidFill>
                <a:latin typeface="Arial"/>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